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Nunito" panose="020B0604020202020204" charset="0"/>
      <p:regular r:id="rId15"/>
    </p:embeddedFont>
    <p:embeddedFont>
      <p:font typeface="AC Diary Girl" panose="020B0604020202020204" charset="-95"/>
      <p:regular r:id="rId16"/>
    </p:embeddedFont>
    <p:embeddedFont>
      <p:font typeface="Calibri" panose="020F0502020204030204" pitchFamily="3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780"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8.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8.pn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rot="-465442">
            <a:off x="15105791" y="2458225"/>
            <a:ext cx="2013817" cy="2206373"/>
          </a:xfrm>
          <a:custGeom>
            <a:avLst/>
            <a:gdLst/>
            <a:ahLst/>
            <a:cxnLst/>
            <a:rect l="l" t="t" r="r" b="b"/>
            <a:pathLst>
              <a:path w="2013817" h="2206373">
                <a:moveTo>
                  <a:pt x="0" y="0"/>
                </a:moveTo>
                <a:lnTo>
                  <a:pt x="2013817" y="0"/>
                </a:lnTo>
                <a:lnTo>
                  <a:pt x="2013817" y="2206373"/>
                </a:lnTo>
                <a:lnTo>
                  <a:pt x="0" y="220637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Freeform 4"/>
          <p:cNvSpPr/>
          <p:nvPr/>
        </p:nvSpPr>
        <p:spPr>
          <a:xfrm>
            <a:off x="-334072" y="-1475968"/>
            <a:ext cx="3808435" cy="4114800"/>
          </a:xfrm>
          <a:custGeom>
            <a:avLst/>
            <a:gdLst/>
            <a:ahLst/>
            <a:cxnLst/>
            <a:rect l="l" t="t" r="r" b="b"/>
            <a:pathLst>
              <a:path w="3808435" h="4114800">
                <a:moveTo>
                  <a:pt x="0" y="0"/>
                </a:moveTo>
                <a:lnTo>
                  <a:pt x="3808435" y="0"/>
                </a:lnTo>
                <a:lnTo>
                  <a:pt x="3808435" y="4114800"/>
                </a:lnTo>
                <a:lnTo>
                  <a:pt x="0" y="41148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Freeform 5"/>
          <p:cNvSpPr/>
          <p:nvPr/>
        </p:nvSpPr>
        <p:spPr>
          <a:xfrm>
            <a:off x="13825094" y="8627655"/>
            <a:ext cx="3434206" cy="630645"/>
          </a:xfrm>
          <a:custGeom>
            <a:avLst/>
            <a:gdLst/>
            <a:ahLst/>
            <a:cxnLst/>
            <a:rect l="l" t="t" r="r" b="b"/>
            <a:pathLst>
              <a:path w="3434206" h="630645">
                <a:moveTo>
                  <a:pt x="0" y="0"/>
                </a:moveTo>
                <a:lnTo>
                  <a:pt x="3434206" y="0"/>
                </a:lnTo>
                <a:lnTo>
                  <a:pt x="3434206" y="630645"/>
                </a:lnTo>
                <a:lnTo>
                  <a:pt x="0" y="630645"/>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6" name="Freeform 6"/>
          <p:cNvSpPr/>
          <p:nvPr/>
        </p:nvSpPr>
        <p:spPr>
          <a:xfrm rot="-537417">
            <a:off x="1699513" y="6606455"/>
            <a:ext cx="3549699" cy="2562238"/>
          </a:xfrm>
          <a:custGeom>
            <a:avLst/>
            <a:gdLst/>
            <a:ahLst/>
            <a:cxnLst/>
            <a:rect l="l" t="t" r="r" b="b"/>
            <a:pathLst>
              <a:path w="3549699" h="2562238">
                <a:moveTo>
                  <a:pt x="0" y="0"/>
                </a:moveTo>
                <a:lnTo>
                  <a:pt x="3549700" y="0"/>
                </a:lnTo>
                <a:lnTo>
                  <a:pt x="3549700" y="2562237"/>
                </a:lnTo>
                <a:lnTo>
                  <a:pt x="0" y="2562237"/>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7" name="TextBox 7"/>
          <p:cNvSpPr txBox="1"/>
          <p:nvPr/>
        </p:nvSpPr>
        <p:spPr>
          <a:xfrm>
            <a:off x="3474363" y="3145348"/>
            <a:ext cx="12067834" cy="3024402"/>
          </a:xfrm>
          <a:prstGeom prst="rect">
            <a:avLst/>
          </a:prstGeom>
        </p:spPr>
        <p:txBody>
          <a:bodyPr lIns="0" tIns="0" rIns="0" bIns="0" rtlCol="0" anchor="t">
            <a:spAutoFit/>
          </a:bodyPr>
          <a:lstStyle/>
          <a:p>
            <a:pPr algn="ctr">
              <a:lnSpc>
                <a:spcPts val="11853"/>
              </a:lnSpc>
            </a:pPr>
            <a:r>
              <a:rPr lang="en-US" sz="8467">
                <a:solidFill>
                  <a:srgbClr val="337271"/>
                </a:solidFill>
                <a:latin typeface="AC Diary Girl"/>
                <a:ea typeface="AC Diary Girl"/>
                <a:cs typeface="AC Diary Girl"/>
                <a:sym typeface="AC Diary Girl"/>
              </a:rPr>
              <a:t>IICT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a:off x="1402619" y="4344560"/>
            <a:ext cx="6538723" cy="1982601"/>
            <a:chOff x="0" y="0"/>
            <a:chExt cx="1722133" cy="522167"/>
          </a:xfrm>
        </p:grpSpPr>
        <p:sp>
          <p:nvSpPr>
            <p:cNvPr id="4" name="Freeform 4"/>
            <p:cNvSpPr/>
            <p:nvPr/>
          </p:nvSpPr>
          <p:spPr>
            <a:xfrm>
              <a:off x="0" y="0"/>
              <a:ext cx="1722133" cy="522167"/>
            </a:xfrm>
            <a:custGeom>
              <a:avLst/>
              <a:gdLst/>
              <a:ahLst/>
              <a:cxnLst/>
              <a:rect l="l" t="t" r="r" b="b"/>
              <a:pathLst>
                <a:path w="1722133" h="522167">
                  <a:moveTo>
                    <a:pt x="0" y="0"/>
                  </a:moveTo>
                  <a:lnTo>
                    <a:pt x="1722133" y="0"/>
                  </a:lnTo>
                  <a:lnTo>
                    <a:pt x="1722133" y="522167"/>
                  </a:lnTo>
                  <a:lnTo>
                    <a:pt x="0" y="522167"/>
                  </a:lnTo>
                  <a:close/>
                </a:path>
              </a:pathLst>
            </a:custGeom>
            <a:solidFill>
              <a:srgbClr val="337271"/>
            </a:solidFill>
          </p:spPr>
        </p:sp>
        <p:sp>
          <p:nvSpPr>
            <p:cNvPr id="5" name="TextBox 5"/>
            <p:cNvSpPr txBox="1"/>
            <p:nvPr/>
          </p:nvSpPr>
          <p:spPr>
            <a:xfrm>
              <a:off x="0" y="-38100"/>
              <a:ext cx="1722133" cy="56026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644714" y="4258434"/>
            <a:ext cx="6803507" cy="1982601"/>
            <a:chOff x="0" y="0"/>
            <a:chExt cx="1791870" cy="522167"/>
          </a:xfrm>
        </p:grpSpPr>
        <p:sp>
          <p:nvSpPr>
            <p:cNvPr id="7" name="Freeform 7"/>
            <p:cNvSpPr/>
            <p:nvPr/>
          </p:nvSpPr>
          <p:spPr>
            <a:xfrm>
              <a:off x="0" y="0"/>
              <a:ext cx="1791870" cy="522167"/>
            </a:xfrm>
            <a:custGeom>
              <a:avLst/>
              <a:gdLst/>
              <a:ahLst/>
              <a:cxnLst/>
              <a:rect l="l" t="t" r="r" b="b"/>
              <a:pathLst>
                <a:path w="1791870" h="522167">
                  <a:moveTo>
                    <a:pt x="0" y="0"/>
                  </a:moveTo>
                  <a:lnTo>
                    <a:pt x="1791870" y="0"/>
                  </a:lnTo>
                  <a:lnTo>
                    <a:pt x="1791870" y="522167"/>
                  </a:lnTo>
                  <a:lnTo>
                    <a:pt x="0" y="522167"/>
                  </a:lnTo>
                  <a:close/>
                </a:path>
              </a:pathLst>
            </a:custGeom>
            <a:solidFill>
              <a:srgbClr val="337271"/>
            </a:solidFill>
          </p:spPr>
        </p:sp>
        <p:sp>
          <p:nvSpPr>
            <p:cNvPr id="8" name="TextBox 8"/>
            <p:cNvSpPr txBox="1"/>
            <p:nvPr/>
          </p:nvSpPr>
          <p:spPr>
            <a:xfrm>
              <a:off x="0" y="-38100"/>
              <a:ext cx="1791870" cy="560267"/>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flipH="1">
            <a:off x="15690050" y="7739359"/>
            <a:ext cx="3551363" cy="1646945"/>
          </a:xfrm>
          <a:custGeom>
            <a:avLst/>
            <a:gdLst/>
            <a:ahLst/>
            <a:cxnLst/>
            <a:rect l="l" t="t" r="r" b="b"/>
            <a:pathLst>
              <a:path w="3551363" h="1646945">
                <a:moveTo>
                  <a:pt x="3551363" y="0"/>
                </a:moveTo>
                <a:lnTo>
                  <a:pt x="0" y="0"/>
                </a:lnTo>
                <a:lnTo>
                  <a:pt x="0" y="1646944"/>
                </a:lnTo>
                <a:lnTo>
                  <a:pt x="3551363" y="1646944"/>
                </a:lnTo>
                <a:lnTo>
                  <a:pt x="3551363"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0" name="TextBox 10"/>
          <p:cNvSpPr txBox="1"/>
          <p:nvPr/>
        </p:nvSpPr>
        <p:spPr>
          <a:xfrm>
            <a:off x="4796206" y="1594997"/>
            <a:ext cx="8695587" cy="1628773"/>
          </a:xfrm>
          <a:prstGeom prst="rect">
            <a:avLst/>
          </a:prstGeom>
        </p:spPr>
        <p:txBody>
          <a:bodyPr lIns="0" tIns="0" rIns="0" bIns="0" rtlCol="0" anchor="t">
            <a:spAutoFit/>
          </a:bodyPr>
          <a:lstStyle/>
          <a:p>
            <a:pPr algn="ctr">
              <a:lnSpc>
                <a:spcPts val="12600"/>
              </a:lnSpc>
            </a:pPr>
            <a:r>
              <a:rPr lang="en-US" sz="9000">
                <a:solidFill>
                  <a:srgbClr val="337271"/>
                </a:solidFill>
                <a:latin typeface="AC Diary Girl"/>
                <a:ea typeface="AC Diary Girl"/>
                <a:cs typeface="AC Diary Girl"/>
                <a:sym typeface="AC Diary Girl"/>
              </a:rPr>
              <a:t>Our Team</a:t>
            </a:r>
          </a:p>
        </p:txBody>
      </p:sp>
      <p:sp>
        <p:nvSpPr>
          <p:cNvPr id="11" name="TextBox 11"/>
          <p:cNvSpPr txBox="1"/>
          <p:nvPr/>
        </p:nvSpPr>
        <p:spPr>
          <a:xfrm>
            <a:off x="2084467" y="4408761"/>
            <a:ext cx="4682033" cy="1749425"/>
          </a:xfrm>
          <a:prstGeom prst="rect">
            <a:avLst/>
          </a:prstGeom>
        </p:spPr>
        <p:txBody>
          <a:bodyPr lIns="0" tIns="0" rIns="0" bIns="0" rtlCol="0" anchor="t">
            <a:spAutoFit/>
          </a:bodyPr>
          <a:lstStyle/>
          <a:p>
            <a:pPr algn="ctr">
              <a:lnSpc>
                <a:spcPts val="7000"/>
              </a:lnSpc>
            </a:pPr>
            <a:r>
              <a:rPr lang="en-US" sz="5000">
                <a:solidFill>
                  <a:srgbClr val="FFFFFF"/>
                </a:solidFill>
                <a:latin typeface="Nunito"/>
                <a:ea typeface="Nunito"/>
                <a:cs typeface="Nunito"/>
                <a:sym typeface="Nunito"/>
              </a:rPr>
              <a:t>AIMAN NASIR</a:t>
            </a:r>
          </a:p>
          <a:p>
            <a:pPr algn="ctr">
              <a:lnSpc>
                <a:spcPts val="7000"/>
              </a:lnSpc>
            </a:pPr>
            <a:r>
              <a:rPr lang="en-US" sz="5000">
                <a:solidFill>
                  <a:srgbClr val="FFFFFF"/>
                </a:solidFill>
                <a:latin typeface="Nunito"/>
                <a:ea typeface="Nunito"/>
                <a:cs typeface="Nunito"/>
                <a:sym typeface="Nunito"/>
              </a:rPr>
              <a:t>(25I-2595)</a:t>
            </a:r>
          </a:p>
        </p:txBody>
      </p:sp>
      <p:sp>
        <p:nvSpPr>
          <p:cNvPr id="12" name="TextBox 12"/>
          <p:cNvSpPr txBox="1"/>
          <p:nvPr/>
        </p:nvSpPr>
        <p:spPr>
          <a:xfrm>
            <a:off x="9934904" y="4322635"/>
            <a:ext cx="6223128" cy="1749425"/>
          </a:xfrm>
          <a:prstGeom prst="rect">
            <a:avLst/>
          </a:prstGeom>
        </p:spPr>
        <p:txBody>
          <a:bodyPr lIns="0" tIns="0" rIns="0" bIns="0" rtlCol="0" anchor="t">
            <a:spAutoFit/>
          </a:bodyPr>
          <a:lstStyle/>
          <a:p>
            <a:pPr algn="ctr">
              <a:lnSpc>
                <a:spcPts val="7000"/>
              </a:lnSpc>
            </a:pPr>
            <a:r>
              <a:rPr lang="en-US" sz="5000">
                <a:solidFill>
                  <a:srgbClr val="FFFFFF"/>
                </a:solidFill>
                <a:latin typeface="Nunito"/>
                <a:ea typeface="Nunito"/>
                <a:cs typeface="Nunito"/>
                <a:sym typeface="Nunito"/>
              </a:rPr>
              <a:t>FARYAL SHAKEEL</a:t>
            </a:r>
          </a:p>
          <a:p>
            <a:pPr algn="ctr">
              <a:lnSpc>
                <a:spcPts val="7000"/>
              </a:lnSpc>
            </a:pPr>
            <a:r>
              <a:rPr lang="en-US" sz="5000">
                <a:solidFill>
                  <a:srgbClr val="FFFFFF"/>
                </a:solidFill>
                <a:latin typeface="Nunito"/>
                <a:ea typeface="Nunito"/>
                <a:cs typeface="Nunito"/>
                <a:sym typeface="Nunito"/>
              </a:rPr>
              <a:t>(25I-2586)</a:t>
            </a:r>
          </a:p>
        </p:txBody>
      </p:sp>
      <p:sp>
        <p:nvSpPr>
          <p:cNvPr id="13" name="Freeform 13"/>
          <p:cNvSpPr/>
          <p:nvPr/>
        </p:nvSpPr>
        <p:spPr>
          <a:xfrm>
            <a:off x="-746982" y="1028700"/>
            <a:ext cx="3551363" cy="1646945"/>
          </a:xfrm>
          <a:custGeom>
            <a:avLst/>
            <a:gdLst/>
            <a:ahLst/>
            <a:cxnLst/>
            <a:rect l="l" t="t" r="r" b="b"/>
            <a:pathLst>
              <a:path w="3551363" h="1646945">
                <a:moveTo>
                  <a:pt x="0" y="0"/>
                </a:moveTo>
                <a:lnTo>
                  <a:pt x="3551364" y="0"/>
                </a:lnTo>
                <a:lnTo>
                  <a:pt x="3551364" y="1646945"/>
                </a:lnTo>
                <a:lnTo>
                  <a:pt x="0" y="164694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14" name="Group 14"/>
          <p:cNvGrpSpPr/>
          <p:nvPr/>
        </p:nvGrpSpPr>
        <p:grpSpPr>
          <a:xfrm>
            <a:off x="5288835" y="7275699"/>
            <a:ext cx="6967838" cy="1982601"/>
            <a:chOff x="0" y="0"/>
            <a:chExt cx="1835151" cy="522167"/>
          </a:xfrm>
        </p:grpSpPr>
        <p:sp>
          <p:nvSpPr>
            <p:cNvPr id="15" name="Freeform 15"/>
            <p:cNvSpPr/>
            <p:nvPr/>
          </p:nvSpPr>
          <p:spPr>
            <a:xfrm>
              <a:off x="0" y="0"/>
              <a:ext cx="1835151" cy="522167"/>
            </a:xfrm>
            <a:custGeom>
              <a:avLst/>
              <a:gdLst/>
              <a:ahLst/>
              <a:cxnLst/>
              <a:rect l="l" t="t" r="r" b="b"/>
              <a:pathLst>
                <a:path w="1835151" h="522167">
                  <a:moveTo>
                    <a:pt x="0" y="0"/>
                  </a:moveTo>
                  <a:lnTo>
                    <a:pt x="1835151" y="0"/>
                  </a:lnTo>
                  <a:lnTo>
                    <a:pt x="1835151" y="522167"/>
                  </a:lnTo>
                  <a:lnTo>
                    <a:pt x="0" y="522167"/>
                  </a:lnTo>
                  <a:close/>
                </a:path>
              </a:pathLst>
            </a:custGeom>
            <a:solidFill>
              <a:srgbClr val="337271"/>
            </a:solidFill>
          </p:spPr>
        </p:sp>
        <p:sp>
          <p:nvSpPr>
            <p:cNvPr id="16" name="TextBox 16"/>
            <p:cNvSpPr txBox="1"/>
            <p:nvPr/>
          </p:nvSpPr>
          <p:spPr>
            <a:xfrm>
              <a:off x="0" y="-38100"/>
              <a:ext cx="1835151" cy="560267"/>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5579024" y="7339900"/>
            <a:ext cx="6223128" cy="1749425"/>
          </a:xfrm>
          <a:prstGeom prst="rect">
            <a:avLst/>
          </a:prstGeom>
        </p:spPr>
        <p:txBody>
          <a:bodyPr lIns="0" tIns="0" rIns="0" bIns="0" rtlCol="0" anchor="t">
            <a:spAutoFit/>
          </a:bodyPr>
          <a:lstStyle/>
          <a:p>
            <a:pPr algn="ctr">
              <a:lnSpc>
                <a:spcPts val="7000"/>
              </a:lnSpc>
            </a:pPr>
            <a:r>
              <a:rPr lang="en-US" sz="5000">
                <a:solidFill>
                  <a:srgbClr val="FFFFFF"/>
                </a:solidFill>
                <a:latin typeface="Nunito"/>
                <a:ea typeface="Nunito"/>
                <a:cs typeface="Nunito"/>
                <a:sym typeface="Nunito"/>
              </a:rPr>
              <a:t>AISHA IRSHAD</a:t>
            </a:r>
          </a:p>
          <a:p>
            <a:pPr algn="ctr">
              <a:lnSpc>
                <a:spcPts val="7000"/>
              </a:lnSpc>
            </a:pPr>
            <a:r>
              <a:rPr lang="en-US" sz="5000">
                <a:solidFill>
                  <a:srgbClr val="FFFFFF"/>
                </a:solidFill>
                <a:latin typeface="Nunito"/>
                <a:ea typeface="Nunito"/>
                <a:cs typeface="Nunito"/>
                <a:sym typeface="Nunito"/>
              </a:rPr>
              <a:t>(25I-2562)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2099932" y="-1172339"/>
            <a:ext cx="6257264" cy="3629213"/>
          </a:xfrm>
          <a:custGeom>
            <a:avLst/>
            <a:gdLst/>
            <a:ahLst/>
            <a:cxnLst/>
            <a:rect l="l" t="t" r="r" b="b"/>
            <a:pathLst>
              <a:path w="6257264" h="3629213">
                <a:moveTo>
                  <a:pt x="0" y="0"/>
                </a:moveTo>
                <a:lnTo>
                  <a:pt x="6257264" y="0"/>
                </a:lnTo>
                <a:lnTo>
                  <a:pt x="6257264" y="3629214"/>
                </a:lnTo>
                <a:lnTo>
                  <a:pt x="0" y="36292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Freeform 4"/>
          <p:cNvSpPr/>
          <p:nvPr/>
        </p:nvSpPr>
        <p:spPr>
          <a:xfrm>
            <a:off x="15533991" y="6870677"/>
            <a:ext cx="2977619" cy="4114800"/>
          </a:xfrm>
          <a:custGeom>
            <a:avLst/>
            <a:gdLst/>
            <a:ahLst/>
            <a:cxnLst/>
            <a:rect l="l" t="t" r="r" b="b"/>
            <a:pathLst>
              <a:path w="2977619" h="4114800">
                <a:moveTo>
                  <a:pt x="0" y="0"/>
                </a:moveTo>
                <a:lnTo>
                  <a:pt x="2977619" y="0"/>
                </a:lnTo>
                <a:lnTo>
                  <a:pt x="2977619" y="4114800"/>
                </a:lnTo>
                <a:lnTo>
                  <a:pt x="0" y="41148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Freeform 5"/>
          <p:cNvSpPr/>
          <p:nvPr/>
        </p:nvSpPr>
        <p:spPr>
          <a:xfrm>
            <a:off x="12921617" y="-1377158"/>
            <a:ext cx="6520658" cy="6520658"/>
          </a:xfrm>
          <a:custGeom>
            <a:avLst/>
            <a:gdLst/>
            <a:ahLst/>
            <a:cxnLst/>
            <a:rect l="l" t="t" r="r" b="b"/>
            <a:pathLst>
              <a:path w="6520658" h="6520658">
                <a:moveTo>
                  <a:pt x="0" y="0"/>
                </a:moveTo>
                <a:lnTo>
                  <a:pt x="6520658" y="0"/>
                </a:lnTo>
                <a:lnTo>
                  <a:pt x="6520658" y="6520658"/>
                </a:lnTo>
                <a:lnTo>
                  <a:pt x="0" y="6520658"/>
                </a:lnTo>
                <a:lnTo>
                  <a:pt x="0" y="0"/>
                </a:lnTo>
                <a:close/>
              </a:path>
            </a:pathLst>
          </a:custGeom>
          <a:blipFill>
            <a:blip r:embed="rId7"/>
            <a:stretch>
              <a:fillRect/>
            </a:stretch>
          </a:blipFill>
        </p:spPr>
      </p:sp>
      <p:sp>
        <p:nvSpPr>
          <p:cNvPr id="6" name="TextBox 6"/>
          <p:cNvSpPr txBox="1"/>
          <p:nvPr/>
        </p:nvSpPr>
        <p:spPr>
          <a:xfrm>
            <a:off x="2013588" y="2592466"/>
            <a:ext cx="12501836" cy="1754349"/>
          </a:xfrm>
          <a:prstGeom prst="rect">
            <a:avLst/>
          </a:prstGeom>
        </p:spPr>
        <p:txBody>
          <a:bodyPr lIns="0" tIns="0" rIns="0" bIns="0" rtlCol="0" anchor="t">
            <a:spAutoFit/>
          </a:bodyPr>
          <a:lstStyle/>
          <a:p>
            <a:pPr algn="ctr">
              <a:lnSpc>
                <a:spcPts val="13666"/>
              </a:lnSpc>
            </a:pPr>
            <a:r>
              <a:rPr lang="en-US" sz="9761">
                <a:solidFill>
                  <a:srgbClr val="337271"/>
                </a:solidFill>
                <a:latin typeface="AC Diary Girl"/>
                <a:ea typeface="AC Diary Girl"/>
                <a:cs typeface="AC Diary Girl"/>
                <a:sym typeface="AC Diary Girl"/>
              </a:rPr>
              <a:t>Budget Living Hub </a:t>
            </a:r>
          </a:p>
        </p:txBody>
      </p:sp>
      <p:sp>
        <p:nvSpPr>
          <p:cNvPr id="7" name="TextBox 7"/>
          <p:cNvSpPr txBox="1"/>
          <p:nvPr/>
        </p:nvSpPr>
        <p:spPr>
          <a:xfrm>
            <a:off x="1028700" y="5067300"/>
            <a:ext cx="16759166" cy="2920213"/>
          </a:xfrm>
          <a:prstGeom prst="rect">
            <a:avLst/>
          </a:prstGeom>
        </p:spPr>
        <p:txBody>
          <a:bodyPr lIns="0" tIns="0" rIns="0" bIns="0" rtlCol="0" anchor="t">
            <a:spAutoFit/>
          </a:bodyPr>
          <a:lstStyle/>
          <a:p>
            <a:pPr algn="ctr">
              <a:lnSpc>
                <a:spcPts val="5893"/>
              </a:lnSpc>
            </a:pPr>
            <a:r>
              <a:rPr lang="en-US" sz="4209">
                <a:solidFill>
                  <a:srgbClr val="337271"/>
                </a:solidFill>
                <a:latin typeface="Nunito"/>
                <a:ea typeface="Nunito"/>
                <a:cs typeface="Nunito"/>
                <a:sym typeface="Nunito"/>
              </a:rPr>
              <a:t>Budget Living Hub is a simple website created to help people deal with rising prices. It guides users to nearby markets where they can find good products at affordable rates. Our aim is to make everyday shopping easier, clearer, and less stressful during inflation.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a:off x="2500647" y="3711930"/>
            <a:ext cx="13352438" cy="1464436"/>
            <a:chOff x="0" y="0"/>
            <a:chExt cx="3516691" cy="385695"/>
          </a:xfrm>
        </p:grpSpPr>
        <p:sp>
          <p:nvSpPr>
            <p:cNvPr id="4" name="Freeform 4"/>
            <p:cNvSpPr/>
            <p:nvPr/>
          </p:nvSpPr>
          <p:spPr>
            <a:xfrm>
              <a:off x="0" y="0"/>
              <a:ext cx="3516692" cy="385695"/>
            </a:xfrm>
            <a:custGeom>
              <a:avLst/>
              <a:gdLst/>
              <a:ahLst/>
              <a:cxnLst/>
              <a:rect l="l" t="t" r="r" b="b"/>
              <a:pathLst>
                <a:path w="3516692" h="385695">
                  <a:moveTo>
                    <a:pt x="0" y="0"/>
                  </a:moveTo>
                  <a:lnTo>
                    <a:pt x="3516692" y="0"/>
                  </a:lnTo>
                  <a:lnTo>
                    <a:pt x="3516692" y="385695"/>
                  </a:lnTo>
                  <a:lnTo>
                    <a:pt x="0" y="385695"/>
                  </a:lnTo>
                  <a:close/>
                </a:path>
              </a:pathLst>
            </a:custGeom>
            <a:solidFill>
              <a:srgbClr val="000000">
                <a:alpha val="0"/>
              </a:srgbClr>
            </a:solidFill>
            <a:ln w="38100" cap="sq">
              <a:solidFill>
                <a:srgbClr val="337271"/>
              </a:solidFill>
              <a:prstDash val="solid"/>
              <a:miter/>
            </a:ln>
          </p:spPr>
        </p:sp>
        <p:sp>
          <p:nvSpPr>
            <p:cNvPr id="5" name="TextBox 5"/>
            <p:cNvSpPr txBox="1"/>
            <p:nvPr/>
          </p:nvSpPr>
          <p:spPr>
            <a:xfrm>
              <a:off x="0" y="-38100"/>
              <a:ext cx="3516691" cy="42379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500647" y="5532634"/>
            <a:ext cx="13352438" cy="1504710"/>
            <a:chOff x="0" y="0"/>
            <a:chExt cx="3516691" cy="396302"/>
          </a:xfrm>
        </p:grpSpPr>
        <p:sp>
          <p:nvSpPr>
            <p:cNvPr id="7" name="Freeform 7"/>
            <p:cNvSpPr/>
            <p:nvPr/>
          </p:nvSpPr>
          <p:spPr>
            <a:xfrm>
              <a:off x="0" y="0"/>
              <a:ext cx="3516692" cy="396302"/>
            </a:xfrm>
            <a:custGeom>
              <a:avLst/>
              <a:gdLst/>
              <a:ahLst/>
              <a:cxnLst/>
              <a:rect l="l" t="t" r="r" b="b"/>
              <a:pathLst>
                <a:path w="3516692" h="396302">
                  <a:moveTo>
                    <a:pt x="0" y="0"/>
                  </a:moveTo>
                  <a:lnTo>
                    <a:pt x="3516692" y="0"/>
                  </a:lnTo>
                  <a:lnTo>
                    <a:pt x="3516692" y="396302"/>
                  </a:lnTo>
                  <a:lnTo>
                    <a:pt x="0" y="396302"/>
                  </a:lnTo>
                  <a:close/>
                </a:path>
              </a:pathLst>
            </a:custGeom>
            <a:solidFill>
              <a:srgbClr val="000000">
                <a:alpha val="0"/>
              </a:srgbClr>
            </a:solidFill>
            <a:ln w="38100" cap="sq">
              <a:solidFill>
                <a:srgbClr val="337271"/>
              </a:solidFill>
              <a:prstDash val="solid"/>
              <a:miter/>
            </a:ln>
          </p:spPr>
        </p:sp>
        <p:sp>
          <p:nvSpPr>
            <p:cNvPr id="8" name="TextBox 8"/>
            <p:cNvSpPr txBox="1"/>
            <p:nvPr/>
          </p:nvSpPr>
          <p:spPr>
            <a:xfrm>
              <a:off x="0" y="-38100"/>
              <a:ext cx="3516691" cy="434402"/>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2500647" y="7298522"/>
            <a:ext cx="13352438" cy="1599813"/>
            <a:chOff x="0" y="0"/>
            <a:chExt cx="3516691" cy="421350"/>
          </a:xfrm>
        </p:grpSpPr>
        <p:sp>
          <p:nvSpPr>
            <p:cNvPr id="10" name="Freeform 10"/>
            <p:cNvSpPr/>
            <p:nvPr/>
          </p:nvSpPr>
          <p:spPr>
            <a:xfrm>
              <a:off x="0" y="0"/>
              <a:ext cx="3516692" cy="421350"/>
            </a:xfrm>
            <a:custGeom>
              <a:avLst/>
              <a:gdLst/>
              <a:ahLst/>
              <a:cxnLst/>
              <a:rect l="l" t="t" r="r" b="b"/>
              <a:pathLst>
                <a:path w="3516692" h="421350">
                  <a:moveTo>
                    <a:pt x="0" y="0"/>
                  </a:moveTo>
                  <a:lnTo>
                    <a:pt x="3516692" y="0"/>
                  </a:lnTo>
                  <a:lnTo>
                    <a:pt x="3516692" y="421350"/>
                  </a:lnTo>
                  <a:lnTo>
                    <a:pt x="0" y="421350"/>
                  </a:lnTo>
                  <a:close/>
                </a:path>
              </a:pathLst>
            </a:custGeom>
            <a:solidFill>
              <a:srgbClr val="000000">
                <a:alpha val="0"/>
              </a:srgbClr>
            </a:solidFill>
            <a:ln w="38100" cap="sq">
              <a:solidFill>
                <a:srgbClr val="337271"/>
              </a:solidFill>
              <a:prstDash val="solid"/>
              <a:miter/>
            </a:ln>
          </p:spPr>
        </p:sp>
        <p:sp>
          <p:nvSpPr>
            <p:cNvPr id="11" name="TextBox 11"/>
            <p:cNvSpPr txBox="1"/>
            <p:nvPr/>
          </p:nvSpPr>
          <p:spPr>
            <a:xfrm>
              <a:off x="0" y="-38100"/>
              <a:ext cx="3516691" cy="45945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204614" y="1550304"/>
            <a:ext cx="10708294" cy="1628773"/>
          </a:xfrm>
          <a:prstGeom prst="rect">
            <a:avLst/>
          </a:prstGeom>
        </p:spPr>
        <p:txBody>
          <a:bodyPr lIns="0" tIns="0" rIns="0" bIns="0" rtlCol="0" anchor="t">
            <a:spAutoFit/>
          </a:bodyPr>
          <a:lstStyle/>
          <a:p>
            <a:pPr algn="ctr">
              <a:lnSpc>
                <a:spcPts val="12600"/>
              </a:lnSpc>
            </a:pPr>
            <a:r>
              <a:rPr lang="en-US" sz="9000">
                <a:solidFill>
                  <a:srgbClr val="337271"/>
                </a:solidFill>
                <a:latin typeface="AC Diary Girl"/>
                <a:ea typeface="AC Diary Girl"/>
                <a:cs typeface="AC Diary Girl"/>
                <a:sym typeface="AC Diary Girl"/>
              </a:rPr>
              <a:t>Website Purpose</a:t>
            </a:r>
          </a:p>
        </p:txBody>
      </p:sp>
      <p:sp>
        <p:nvSpPr>
          <p:cNvPr id="13" name="TextBox 13"/>
          <p:cNvSpPr txBox="1"/>
          <p:nvPr/>
        </p:nvSpPr>
        <p:spPr>
          <a:xfrm>
            <a:off x="2783500" y="3875284"/>
            <a:ext cx="12721001" cy="1099820"/>
          </a:xfrm>
          <a:prstGeom prst="rect">
            <a:avLst/>
          </a:prstGeom>
        </p:spPr>
        <p:txBody>
          <a:bodyPr lIns="0" tIns="0" rIns="0" bIns="0" rtlCol="0" anchor="t">
            <a:spAutoFit/>
          </a:bodyPr>
          <a:lstStyle/>
          <a:p>
            <a:pPr algn="ctr">
              <a:lnSpc>
                <a:spcPts val="4479"/>
              </a:lnSpc>
            </a:pPr>
            <a:r>
              <a:rPr lang="en-US" sz="3199">
                <a:solidFill>
                  <a:srgbClr val="337271"/>
                </a:solidFill>
                <a:latin typeface="Nunito"/>
                <a:ea typeface="Nunito"/>
                <a:cs typeface="Nunito"/>
                <a:sym typeface="Nunito"/>
              </a:rPr>
              <a:t>To help people find affordable and good-quality products in nearby local markets.</a:t>
            </a:r>
          </a:p>
        </p:txBody>
      </p:sp>
      <p:sp>
        <p:nvSpPr>
          <p:cNvPr id="14" name="TextBox 14"/>
          <p:cNvSpPr txBox="1"/>
          <p:nvPr/>
        </p:nvSpPr>
        <p:spPr>
          <a:xfrm>
            <a:off x="2783500" y="5686425"/>
            <a:ext cx="12721001" cy="1099820"/>
          </a:xfrm>
          <a:prstGeom prst="rect">
            <a:avLst/>
          </a:prstGeom>
        </p:spPr>
        <p:txBody>
          <a:bodyPr lIns="0" tIns="0" rIns="0" bIns="0" rtlCol="0" anchor="t">
            <a:spAutoFit/>
          </a:bodyPr>
          <a:lstStyle/>
          <a:p>
            <a:pPr algn="ctr">
              <a:lnSpc>
                <a:spcPts val="4479"/>
              </a:lnSpc>
            </a:pPr>
            <a:r>
              <a:rPr lang="en-US" sz="3199">
                <a:solidFill>
                  <a:srgbClr val="337271"/>
                </a:solidFill>
                <a:latin typeface="Nunito"/>
                <a:ea typeface="Nunito"/>
                <a:cs typeface="Nunito"/>
                <a:sym typeface="Nunito"/>
              </a:rPr>
              <a:t>To help people find affordable and good-quality products in nearby local markets.</a:t>
            </a:r>
          </a:p>
        </p:txBody>
      </p:sp>
      <p:sp>
        <p:nvSpPr>
          <p:cNvPr id="15" name="TextBox 15"/>
          <p:cNvSpPr txBox="1"/>
          <p:nvPr/>
        </p:nvSpPr>
        <p:spPr>
          <a:xfrm>
            <a:off x="2697845" y="7450922"/>
            <a:ext cx="12721001" cy="1099820"/>
          </a:xfrm>
          <a:prstGeom prst="rect">
            <a:avLst/>
          </a:prstGeom>
        </p:spPr>
        <p:txBody>
          <a:bodyPr lIns="0" tIns="0" rIns="0" bIns="0" rtlCol="0" anchor="t">
            <a:spAutoFit/>
          </a:bodyPr>
          <a:lstStyle/>
          <a:p>
            <a:pPr algn="ctr">
              <a:lnSpc>
                <a:spcPts val="4479"/>
              </a:lnSpc>
            </a:pPr>
            <a:r>
              <a:rPr lang="en-US" sz="3199">
                <a:solidFill>
                  <a:srgbClr val="337271"/>
                </a:solidFill>
                <a:latin typeface="Nunito"/>
                <a:ea typeface="Nunito"/>
                <a:cs typeface="Nunito"/>
                <a:sym typeface="Nunito"/>
              </a:rPr>
              <a:t>To make everyday buying decisions easier, faster, and more budget-friendly for users.</a:t>
            </a:r>
          </a:p>
        </p:txBody>
      </p:sp>
      <p:sp>
        <p:nvSpPr>
          <p:cNvPr id="16" name="Freeform 16"/>
          <p:cNvSpPr/>
          <p:nvPr/>
        </p:nvSpPr>
        <p:spPr>
          <a:xfrm>
            <a:off x="-334072" y="-1475968"/>
            <a:ext cx="3808435" cy="4114800"/>
          </a:xfrm>
          <a:custGeom>
            <a:avLst/>
            <a:gdLst/>
            <a:ahLst/>
            <a:cxnLst/>
            <a:rect l="l" t="t" r="r" b="b"/>
            <a:pathLst>
              <a:path w="3808435" h="4114800">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7" name="Freeform 17"/>
          <p:cNvSpPr/>
          <p:nvPr/>
        </p:nvSpPr>
        <p:spPr>
          <a:xfrm>
            <a:off x="13406006" y="9057766"/>
            <a:ext cx="4196989" cy="770720"/>
          </a:xfrm>
          <a:custGeom>
            <a:avLst/>
            <a:gdLst/>
            <a:ahLst/>
            <a:cxnLst/>
            <a:rect l="l" t="t" r="r" b="b"/>
            <a:pathLst>
              <a:path w="4196989" h="770720">
                <a:moveTo>
                  <a:pt x="0" y="0"/>
                </a:moveTo>
                <a:lnTo>
                  <a:pt x="4196989" y="0"/>
                </a:lnTo>
                <a:lnTo>
                  <a:pt x="4196989" y="770720"/>
                </a:lnTo>
                <a:lnTo>
                  <a:pt x="0" y="77072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a:off x="1608714" y="2242852"/>
            <a:ext cx="6632918" cy="2474728"/>
            <a:chOff x="0" y="0"/>
            <a:chExt cx="1746941" cy="651780"/>
          </a:xfrm>
        </p:grpSpPr>
        <p:sp>
          <p:nvSpPr>
            <p:cNvPr id="4" name="Freeform 4"/>
            <p:cNvSpPr/>
            <p:nvPr/>
          </p:nvSpPr>
          <p:spPr>
            <a:xfrm>
              <a:off x="0" y="0"/>
              <a:ext cx="1746941" cy="651780"/>
            </a:xfrm>
            <a:custGeom>
              <a:avLst/>
              <a:gdLst/>
              <a:ahLst/>
              <a:cxnLst/>
              <a:rect l="l" t="t" r="r" b="b"/>
              <a:pathLst>
                <a:path w="1746941" h="651780">
                  <a:moveTo>
                    <a:pt x="0" y="0"/>
                  </a:moveTo>
                  <a:lnTo>
                    <a:pt x="1746941" y="0"/>
                  </a:lnTo>
                  <a:lnTo>
                    <a:pt x="1746941" y="651780"/>
                  </a:lnTo>
                  <a:lnTo>
                    <a:pt x="0" y="651780"/>
                  </a:lnTo>
                  <a:close/>
                </a:path>
              </a:pathLst>
            </a:custGeom>
            <a:solidFill>
              <a:srgbClr val="337271"/>
            </a:solidFill>
          </p:spPr>
        </p:sp>
        <p:sp>
          <p:nvSpPr>
            <p:cNvPr id="5" name="TextBox 5"/>
            <p:cNvSpPr txBox="1"/>
            <p:nvPr/>
          </p:nvSpPr>
          <p:spPr>
            <a:xfrm>
              <a:off x="0" y="-38100"/>
              <a:ext cx="1746941" cy="689880"/>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925173" y="128304"/>
            <a:ext cx="8695587" cy="1628773"/>
          </a:xfrm>
          <a:prstGeom prst="rect">
            <a:avLst/>
          </a:prstGeom>
        </p:spPr>
        <p:txBody>
          <a:bodyPr lIns="0" tIns="0" rIns="0" bIns="0" rtlCol="0" anchor="t">
            <a:spAutoFit/>
          </a:bodyPr>
          <a:lstStyle/>
          <a:p>
            <a:pPr algn="ctr">
              <a:lnSpc>
                <a:spcPts val="12600"/>
              </a:lnSpc>
            </a:pPr>
            <a:r>
              <a:rPr lang="en-US" sz="9000">
                <a:solidFill>
                  <a:srgbClr val="337271"/>
                </a:solidFill>
                <a:latin typeface="AC Diary Girl"/>
                <a:ea typeface="AC Diary Girl"/>
                <a:cs typeface="AC Diary Girl"/>
                <a:sym typeface="AC Diary Girl"/>
              </a:rPr>
              <a:t>Overview</a:t>
            </a:r>
          </a:p>
        </p:txBody>
      </p:sp>
      <p:sp>
        <p:nvSpPr>
          <p:cNvPr id="7" name="TextBox 7"/>
          <p:cNvSpPr txBox="1"/>
          <p:nvPr/>
        </p:nvSpPr>
        <p:spPr>
          <a:xfrm>
            <a:off x="1789753" y="3423066"/>
            <a:ext cx="6270840" cy="1047750"/>
          </a:xfrm>
          <a:prstGeom prst="rect">
            <a:avLst/>
          </a:prstGeom>
        </p:spPr>
        <p:txBody>
          <a:bodyPr lIns="0" tIns="0" rIns="0" bIns="0" rtlCol="0" anchor="t">
            <a:spAutoFit/>
          </a:bodyPr>
          <a:lstStyle/>
          <a:p>
            <a:pPr algn="ctr">
              <a:lnSpc>
                <a:spcPts val="4200"/>
              </a:lnSpc>
            </a:pPr>
            <a:r>
              <a:rPr lang="en-US" sz="3000">
                <a:solidFill>
                  <a:srgbClr val="FFFFFF"/>
                </a:solidFill>
                <a:latin typeface="Nunito"/>
                <a:ea typeface="Nunito"/>
                <a:cs typeface="Nunito"/>
                <a:sym typeface="Nunito"/>
              </a:rPr>
              <a:t>Introduces the platform and guides users into the website.</a:t>
            </a:r>
          </a:p>
        </p:txBody>
      </p:sp>
      <p:sp>
        <p:nvSpPr>
          <p:cNvPr id="8" name="TextBox 8"/>
          <p:cNvSpPr txBox="1"/>
          <p:nvPr/>
        </p:nvSpPr>
        <p:spPr>
          <a:xfrm>
            <a:off x="2517509" y="2453269"/>
            <a:ext cx="5107471" cy="783590"/>
          </a:xfrm>
          <a:prstGeom prst="rect">
            <a:avLst/>
          </a:prstGeom>
        </p:spPr>
        <p:txBody>
          <a:bodyPr lIns="0" tIns="0" rIns="0" bIns="0" rtlCol="0" anchor="t">
            <a:spAutoFit/>
          </a:bodyPr>
          <a:lstStyle/>
          <a:p>
            <a:pPr algn="ctr">
              <a:lnSpc>
                <a:spcPts val="6160"/>
              </a:lnSpc>
            </a:pPr>
            <a:r>
              <a:rPr lang="en-US" sz="4400">
                <a:solidFill>
                  <a:srgbClr val="FFFFFF"/>
                </a:solidFill>
                <a:latin typeface="AC Diary Girl"/>
                <a:ea typeface="AC Diary Girl"/>
                <a:cs typeface="AC Diary Girl"/>
                <a:sym typeface="AC Diary Girl"/>
              </a:rPr>
              <a:t>Welcome Page: </a:t>
            </a:r>
          </a:p>
        </p:txBody>
      </p:sp>
      <p:grpSp>
        <p:nvGrpSpPr>
          <p:cNvPr id="9" name="Group 9"/>
          <p:cNvGrpSpPr/>
          <p:nvPr/>
        </p:nvGrpSpPr>
        <p:grpSpPr>
          <a:xfrm>
            <a:off x="9615865" y="2242852"/>
            <a:ext cx="6698651" cy="2474728"/>
            <a:chOff x="0" y="0"/>
            <a:chExt cx="1764254" cy="651780"/>
          </a:xfrm>
        </p:grpSpPr>
        <p:sp>
          <p:nvSpPr>
            <p:cNvPr id="10" name="Freeform 10"/>
            <p:cNvSpPr/>
            <p:nvPr/>
          </p:nvSpPr>
          <p:spPr>
            <a:xfrm>
              <a:off x="0" y="0"/>
              <a:ext cx="1764254" cy="651780"/>
            </a:xfrm>
            <a:custGeom>
              <a:avLst/>
              <a:gdLst/>
              <a:ahLst/>
              <a:cxnLst/>
              <a:rect l="l" t="t" r="r" b="b"/>
              <a:pathLst>
                <a:path w="1764254" h="651780">
                  <a:moveTo>
                    <a:pt x="0" y="0"/>
                  </a:moveTo>
                  <a:lnTo>
                    <a:pt x="1764254" y="0"/>
                  </a:lnTo>
                  <a:lnTo>
                    <a:pt x="1764254" y="651780"/>
                  </a:lnTo>
                  <a:lnTo>
                    <a:pt x="0" y="651780"/>
                  </a:lnTo>
                  <a:close/>
                </a:path>
              </a:pathLst>
            </a:custGeom>
            <a:solidFill>
              <a:srgbClr val="337271"/>
            </a:solidFill>
          </p:spPr>
        </p:sp>
        <p:sp>
          <p:nvSpPr>
            <p:cNvPr id="11" name="TextBox 11"/>
            <p:cNvSpPr txBox="1"/>
            <p:nvPr/>
          </p:nvSpPr>
          <p:spPr>
            <a:xfrm>
              <a:off x="0" y="-38100"/>
              <a:ext cx="1764254" cy="68988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9615865" y="3423066"/>
            <a:ext cx="6907545" cy="1047750"/>
          </a:xfrm>
          <a:prstGeom prst="rect">
            <a:avLst/>
          </a:prstGeom>
        </p:spPr>
        <p:txBody>
          <a:bodyPr lIns="0" tIns="0" rIns="0" bIns="0" rtlCol="0" anchor="t">
            <a:spAutoFit/>
          </a:bodyPr>
          <a:lstStyle/>
          <a:p>
            <a:pPr algn="ctr">
              <a:lnSpc>
                <a:spcPts val="4200"/>
              </a:lnSpc>
            </a:pPr>
            <a:r>
              <a:rPr lang="en-US" sz="3000">
                <a:solidFill>
                  <a:srgbClr val="FFFFFF"/>
                </a:solidFill>
                <a:latin typeface="Nunito"/>
                <a:ea typeface="Nunito"/>
                <a:cs typeface="Nunito"/>
                <a:sym typeface="Nunito"/>
              </a:rPr>
              <a:t>Shares updates, announcements, and news relevant to local communities.</a:t>
            </a:r>
          </a:p>
        </p:txBody>
      </p:sp>
      <p:sp>
        <p:nvSpPr>
          <p:cNvPr id="13" name="TextBox 13"/>
          <p:cNvSpPr txBox="1"/>
          <p:nvPr/>
        </p:nvSpPr>
        <p:spPr>
          <a:xfrm>
            <a:off x="9760112" y="2453269"/>
            <a:ext cx="6410156" cy="783590"/>
          </a:xfrm>
          <a:prstGeom prst="rect">
            <a:avLst/>
          </a:prstGeom>
        </p:spPr>
        <p:txBody>
          <a:bodyPr lIns="0" tIns="0" rIns="0" bIns="0" rtlCol="0" anchor="t">
            <a:spAutoFit/>
          </a:bodyPr>
          <a:lstStyle/>
          <a:p>
            <a:pPr algn="ctr">
              <a:lnSpc>
                <a:spcPts val="6160"/>
              </a:lnSpc>
            </a:pPr>
            <a:r>
              <a:rPr lang="en-US" sz="4400">
                <a:solidFill>
                  <a:srgbClr val="FFFFFF"/>
                </a:solidFill>
                <a:latin typeface="AC Diary Girl"/>
                <a:ea typeface="AC Diary Girl"/>
                <a:cs typeface="AC Diary Girl"/>
                <a:sym typeface="AC Diary Girl"/>
              </a:rPr>
              <a:t>Community News:</a:t>
            </a:r>
          </a:p>
        </p:txBody>
      </p:sp>
      <p:sp>
        <p:nvSpPr>
          <p:cNvPr id="14" name="Freeform 14"/>
          <p:cNvSpPr/>
          <p:nvPr/>
        </p:nvSpPr>
        <p:spPr>
          <a:xfrm>
            <a:off x="16281649" y="6730549"/>
            <a:ext cx="2977619" cy="4114800"/>
          </a:xfrm>
          <a:custGeom>
            <a:avLst/>
            <a:gdLst/>
            <a:ahLst/>
            <a:cxnLst/>
            <a:rect l="l" t="t" r="r" b="b"/>
            <a:pathLst>
              <a:path w="2977619" h="4114800">
                <a:moveTo>
                  <a:pt x="0" y="0"/>
                </a:moveTo>
                <a:lnTo>
                  <a:pt x="2977619" y="0"/>
                </a:lnTo>
                <a:lnTo>
                  <a:pt x="2977619"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460109" y="-986410"/>
            <a:ext cx="2977619" cy="4114800"/>
          </a:xfrm>
          <a:custGeom>
            <a:avLst/>
            <a:gdLst/>
            <a:ahLst/>
            <a:cxnLst/>
            <a:rect l="l" t="t" r="r" b="b"/>
            <a:pathLst>
              <a:path w="2977619" h="4114800">
                <a:moveTo>
                  <a:pt x="0" y="0"/>
                </a:moveTo>
                <a:lnTo>
                  <a:pt x="2977618" y="0"/>
                </a:lnTo>
                <a:lnTo>
                  <a:pt x="2977618"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16" name="Group 16"/>
          <p:cNvGrpSpPr/>
          <p:nvPr/>
        </p:nvGrpSpPr>
        <p:grpSpPr>
          <a:xfrm>
            <a:off x="9582999" y="5050667"/>
            <a:ext cx="6698651" cy="2453774"/>
            <a:chOff x="0" y="0"/>
            <a:chExt cx="1764254" cy="646261"/>
          </a:xfrm>
        </p:grpSpPr>
        <p:sp>
          <p:nvSpPr>
            <p:cNvPr id="17" name="Freeform 17"/>
            <p:cNvSpPr/>
            <p:nvPr/>
          </p:nvSpPr>
          <p:spPr>
            <a:xfrm>
              <a:off x="0" y="0"/>
              <a:ext cx="1764254" cy="646261"/>
            </a:xfrm>
            <a:custGeom>
              <a:avLst/>
              <a:gdLst/>
              <a:ahLst/>
              <a:cxnLst/>
              <a:rect l="l" t="t" r="r" b="b"/>
              <a:pathLst>
                <a:path w="1764254" h="646261">
                  <a:moveTo>
                    <a:pt x="0" y="0"/>
                  </a:moveTo>
                  <a:lnTo>
                    <a:pt x="1764254" y="0"/>
                  </a:lnTo>
                  <a:lnTo>
                    <a:pt x="1764254" y="646261"/>
                  </a:lnTo>
                  <a:lnTo>
                    <a:pt x="0" y="646261"/>
                  </a:lnTo>
                  <a:close/>
                </a:path>
              </a:pathLst>
            </a:custGeom>
            <a:solidFill>
              <a:srgbClr val="337271"/>
            </a:solidFill>
          </p:spPr>
        </p:sp>
        <p:sp>
          <p:nvSpPr>
            <p:cNvPr id="18" name="TextBox 18"/>
            <p:cNvSpPr txBox="1"/>
            <p:nvPr/>
          </p:nvSpPr>
          <p:spPr>
            <a:xfrm>
              <a:off x="0" y="-38100"/>
              <a:ext cx="1764254" cy="684361"/>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0275796" y="5224955"/>
            <a:ext cx="5107471" cy="783590"/>
          </a:xfrm>
          <a:prstGeom prst="rect">
            <a:avLst/>
          </a:prstGeom>
        </p:spPr>
        <p:txBody>
          <a:bodyPr lIns="0" tIns="0" rIns="0" bIns="0" rtlCol="0" anchor="t">
            <a:spAutoFit/>
          </a:bodyPr>
          <a:lstStyle/>
          <a:p>
            <a:pPr algn="ctr">
              <a:lnSpc>
                <a:spcPts val="6160"/>
              </a:lnSpc>
            </a:pPr>
            <a:r>
              <a:rPr lang="en-US" sz="4400">
                <a:solidFill>
                  <a:srgbClr val="FFFFFF"/>
                </a:solidFill>
                <a:latin typeface="AC Diary Girl"/>
                <a:ea typeface="AC Diary Girl"/>
                <a:cs typeface="AC Diary Girl"/>
                <a:sym typeface="AC Diary Girl"/>
              </a:rPr>
              <a:t>Local Events: </a:t>
            </a:r>
          </a:p>
        </p:txBody>
      </p:sp>
      <p:sp>
        <p:nvSpPr>
          <p:cNvPr id="20" name="TextBox 20"/>
          <p:cNvSpPr txBox="1"/>
          <p:nvPr/>
        </p:nvSpPr>
        <p:spPr>
          <a:xfrm>
            <a:off x="9408625" y="6241763"/>
            <a:ext cx="7113130" cy="1047750"/>
          </a:xfrm>
          <a:prstGeom prst="rect">
            <a:avLst/>
          </a:prstGeom>
        </p:spPr>
        <p:txBody>
          <a:bodyPr lIns="0" tIns="0" rIns="0" bIns="0" rtlCol="0" anchor="t">
            <a:spAutoFit/>
          </a:bodyPr>
          <a:lstStyle/>
          <a:p>
            <a:pPr algn="ctr">
              <a:lnSpc>
                <a:spcPts val="4200"/>
              </a:lnSpc>
            </a:pPr>
            <a:r>
              <a:rPr lang="en-US" sz="3000">
                <a:solidFill>
                  <a:srgbClr val="FFFFFF"/>
                </a:solidFill>
                <a:latin typeface="Nunito"/>
                <a:ea typeface="Nunito"/>
                <a:cs typeface="Nunito"/>
                <a:sym typeface="Nunito"/>
              </a:rPr>
              <a:t>Highlights upcoming events, activities, and gatherings happening nearby. </a:t>
            </a:r>
          </a:p>
        </p:txBody>
      </p:sp>
      <p:grpSp>
        <p:nvGrpSpPr>
          <p:cNvPr id="21" name="Group 21"/>
          <p:cNvGrpSpPr/>
          <p:nvPr/>
        </p:nvGrpSpPr>
        <p:grpSpPr>
          <a:xfrm>
            <a:off x="9615865" y="7990216"/>
            <a:ext cx="6632918" cy="2279321"/>
            <a:chOff x="0" y="0"/>
            <a:chExt cx="1746941" cy="600315"/>
          </a:xfrm>
        </p:grpSpPr>
        <p:sp>
          <p:nvSpPr>
            <p:cNvPr id="22" name="Freeform 22"/>
            <p:cNvSpPr/>
            <p:nvPr/>
          </p:nvSpPr>
          <p:spPr>
            <a:xfrm>
              <a:off x="0" y="0"/>
              <a:ext cx="1746941" cy="600315"/>
            </a:xfrm>
            <a:custGeom>
              <a:avLst/>
              <a:gdLst/>
              <a:ahLst/>
              <a:cxnLst/>
              <a:rect l="l" t="t" r="r" b="b"/>
              <a:pathLst>
                <a:path w="1746941" h="600315">
                  <a:moveTo>
                    <a:pt x="0" y="0"/>
                  </a:moveTo>
                  <a:lnTo>
                    <a:pt x="1746941" y="0"/>
                  </a:lnTo>
                  <a:lnTo>
                    <a:pt x="1746941" y="600315"/>
                  </a:lnTo>
                  <a:lnTo>
                    <a:pt x="0" y="600315"/>
                  </a:lnTo>
                  <a:close/>
                </a:path>
              </a:pathLst>
            </a:custGeom>
            <a:solidFill>
              <a:srgbClr val="337271"/>
            </a:solidFill>
          </p:spPr>
        </p:sp>
        <p:sp>
          <p:nvSpPr>
            <p:cNvPr id="23" name="TextBox 23"/>
            <p:cNvSpPr txBox="1"/>
            <p:nvPr/>
          </p:nvSpPr>
          <p:spPr>
            <a:xfrm>
              <a:off x="0" y="-38100"/>
              <a:ext cx="1746941" cy="638415"/>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608714" y="7990216"/>
            <a:ext cx="6632918" cy="2474728"/>
            <a:chOff x="0" y="0"/>
            <a:chExt cx="1746941" cy="651780"/>
          </a:xfrm>
        </p:grpSpPr>
        <p:sp>
          <p:nvSpPr>
            <p:cNvPr id="25" name="Freeform 25"/>
            <p:cNvSpPr/>
            <p:nvPr/>
          </p:nvSpPr>
          <p:spPr>
            <a:xfrm>
              <a:off x="0" y="0"/>
              <a:ext cx="1746941" cy="651780"/>
            </a:xfrm>
            <a:custGeom>
              <a:avLst/>
              <a:gdLst/>
              <a:ahLst/>
              <a:cxnLst/>
              <a:rect l="l" t="t" r="r" b="b"/>
              <a:pathLst>
                <a:path w="1746941" h="651780">
                  <a:moveTo>
                    <a:pt x="0" y="0"/>
                  </a:moveTo>
                  <a:lnTo>
                    <a:pt x="1746941" y="0"/>
                  </a:lnTo>
                  <a:lnTo>
                    <a:pt x="1746941" y="651780"/>
                  </a:lnTo>
                  <a:lnTo>
                    <a:pt x="0" y="651780"/>
                  </a:lnTo>
                  <a:close/>
                </a:path>
              </a:pathLst>
            </a:custGeom>
            <a:solidFill>
              <a:srgbClr val="337271"/>
            </a:solidFill>
          </p:spPr>
        </p:sp>
        <p:sp>
          <p:nvSpPr>
            <p:cNvPr id="26" name="TextBox 26"/>
            <p:cNvSpPr txBox="1"/>
            <p:nvPr/>
          </p:nvSpPr>
          <p:spPr>
            <a:xfrm>
              <a:off x="0" y="-38100"/>
              <a:ext cx="1746941" cy="689880"/>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10329289" y="8009266"/>
            <a:ext cx="5206070" cy="783590"/>
          </a:xfrm>
          <a:prstGeom prst="rect">
            <a:avLst/>
          </a:prstGeom>
        </p:spPr>
        <p:txBody>
          <a:bodyPr lIns="0" tIns="0" rIns="0" bIns="0" rtlCol="0" anchor="t">
            <a:spAutoFit/>
          </a:bodyPr>
          <a:lstStyle/>
          <a:p>
            <a:pPr algn="ctr">
              <a:lnSpc>
                <a:spcPts val="6160"/>
              </a:lnSpc>
            </a:pPr>
            <a:r>
              <a:rPr lang="en-US" sz="4400">
                <a:solidFill>
                  <a:srgbClr val="FFFFFF"/>
                </a:solidFill>
                <a:latin typeface="AC Diary Girl"/>
                <a:ea typeface="AC Diary Girl"/>
                <a:cs typeface="AC Diary Girl"/>
                <a:sym typeface="AC Diary Girl"/>
              </a:rPr>
              <a:t>Feedback:</a:t>
            </a:r>
          </a:p>
        </p:txBody>
      </p:sp>
      <p:sp>
        <p:nvSpPr>
          <p:cNvPr id="28" name="TextBox 28"/>
          <p:cNvSpPr txBox="1"/>
          <p:nvPr/>
        </p:nvSpPr>
        <p:spPr>
          <a:xfrm>
            <a:off x="2371437" y="8004359"/>
            <a:ext cx="5347577" cy="783590"/>
          </a:xfrm>
          <a:prstGeom prst="rect">
            <a:avLst/>
          </a:prstGeom>
        </p:spPr>
        <p:txBody>
          <a:bodyPr lIns="0" tIns="0" rIns="0" bIns="0" rtlCol="0" anchor="t">
            <a:spAutoFit/>
          </a:bodyPr>
          <a:lstStyle/>
          <a:p>
            <a:pPr algn="ctr">
              <a:lnSpc>
                <a:spcPts val="6160"/>
              </a:lnSpc>
            </a:pPr>
            <a:r>
              <a:rPr lang="en-US" sz="4400">
                <a:solidFill>
                  <a:srgbClr val="FFFFFF"/>
                </a:solidFill>
                <a:latin typeface="AC Diary Girl"/>
                <a:ea typeface="AC Diary Girl"/>
                <a:cs typeface="AC Diary Girl"/>
                <a:sym typeface="AC Diary Girl"/>
              </a:rPr>
              <a:t>Resource Center:</a:t>
            </a:r>
          </a:p>
        </p:txBody>
      </p:sp>
      <p:sp>
        <p:nvSpPr>
          <p:cNvPr id="29" name="TextBox 29"/>
          <p:cNvSpPr txBox="1"/>
          <p:nvPr/>
        </p:nvSpPr>
        <p:spPr>
          <a:xfrm>
            <a:off x="9477119" y="8975023"/>
            <a:ext cx="6704825" cy="1047750"/>
          </a:xfrm>
          <a:prstGeom prst="rect">
            <a:avLst/>
          </a:prstGeom>
        </p:spPr>
        <p:txBody>
          <a:bodyPr lIns="0" tIns="0" rIns="0" bIns="0" rtlCol="0" anchor="t">
            <a:spAutoFit/>
          </a:bodyPr>
          <a:lstStyle/>
          <a:p>
            <a:pPr algn="ctr">
              <a:lnSpc>
                <a:spcPts val="4200"/>
              </a:lnSpc>
            </a:pPr>
            <a:r>
              <a:rPr lang="en-US" sz="3000">
                <a:solidFill>
                  <a:srgbClr val="FFFFFF"/>
                </a:solidFill>
                <a:latin typeface="Nunito"/>
                <a:ea typeface="Nunito"/>
                <a:cs typeface="Nunito"/>
                <a:sym typeface="Nunito"/>
              </a:rPr>
              <a:t>Allows users to give feedback and reach out for support or inquiries.</a:t>
            </a:r>
          </a:p>
        </p:txBody>
      </p:sp>
      <p:sp>
        <p:nvSpPr>
          <p:cNvPr id="30" name="TextBox 30"/>
          <p:cNvSpPr txBox="1"/>
          <p:nvPr/>
        </p:nvSpPr>
        <p:spPr>
          <a:xfrm>
            <a:off x="1368608" y="8997499"/>
            <a:ext cx="7113130" cy="1047750"/>
          </a:xfrm>
          <a:prstGeom prst="rect">
            <a:avLst/>
          </a:prstGeom>
        </p:spPr>
        <p:txBody>
          <a:bodyPr lIns="0" tIns="0" rIns="0" bIns="0" rtlCol="0" anchor="t">
            <a:spAutoFit/>
          </a:bodyPr>
          <a:lstStyle/>
          <a:p>
            <a:pPr algn="ctr">
              <a:lnSpc>
                <a:spcPts val="4200"/>
              </a:lnSpc>
            </a:pPr>
            <a:r>
              <a:rPr lang="en-US" sz="3000">
                <a:solidFill>
                  <a:srgbClr val="FFFFFF"/>
                </a:solidFill>
                <a:latin typeface="Nunito"/>
                <a:ea typeface="Nunito"/>
                <a:cs typeface="Nunito"/>
                <a:sym typeface="Nunito"/>
              </a:rPr>
              <a:t>Provides useful information, tips, and budget-friendly guides for users.</a:t>
            </a:r>
          </a:p>
        </p:txBody>
      </p:sp>
      <p:grpSp>
        <p:nvGrpSpPr>
          <p:cNvPr id="31" name="Group 31"/>
          <p:cNvGrpSpPr/>
          <p:nvPr/>
        </p:nvGrpSpPr>
        <p:grpSpPr>
          <a:xfrm>
            <a:off x="1608714" y="5007948"/>
            <a:ext cx="6632918" cy="2496492"/>
            <a:chOff x="0" y="0"/>
            <a:chExt cx="1746941" cy="657512"/>
          </a:xfrm>
        </p:grpSpPr>
        <p:sp>
          <p:nvSpPr>
            <p:cNvPr id="32" name="Freeform 32"/>
            <p:cNvSpPr/>
            <p:nvPr/>
          </p:nvSpPr>
          <p:spPr>
            <a:xfrm>
              <a:off x="0" y="0"/>
              <a:ext cx="1746941" cy="657512"/>
            </a:xfrm>
            <a:custGeom>
              <a:avLst/>
              <a:gdLst/>
              <a:ahLst/>
              <a:cxnLst/>
              <a:rect l="l" t="t" r="r" b="b"/>
              <a:pathLst>
                <a:path w="1746941" h="657512">
                  <a:moveTo>
                    <a:pt x="0" y="0"/>
                  </a:moveTo>
                  <a:lnTo>
                    <a:pt x="1746941" y="0"/>
                  </a:lnTo>
                  <a:lnTo>
                    <a:pt x="1746941" y="657512"/>
                  </a:lnTo>
                  <a:lnTo>
                    <a:pt x="0" y="657512"/>
                  </a:lnTo>
                  <a:close/>
                </a:path>
              </a:pathLst>
            </a:custGeom>
            <a:solidFill>
              <a:srgbClr val="337271"/>
            </a:solidFill>
          </p:spPr>
        </p:sp>
        <p:sp>
          <p:nvSpPr>
            <p:cNvPr id="33" name="TextBox 33"/>
            <p:cNvSpPr txBox="1"/>
            <p:nvPr/>
          </p:nvSpPr>
          <p:spPr>
            <a:xfrm>
              <a:off x="0" y="-38100"/>
              <a:ext cx="1746941" cy="695612"/>
            </a:xfrm>
            <a:prstGeom prst="rect">
              <a:avLst/>
            </a:prstGeom>
          </p:spPr>
          <p:txBody>
            <a:bodyPr lIns="50800" tIns="50800" rIns="50800" bIns="50800" rtlCol="0" anchor="ctr"/>
            <a:lstStyle/>
            <a:p>
              <a:pPr algn="ctr">
                <a:lnSpc>
                  <a:spcPts val="2659"/>
                </a:lnSpc>
              </a:pPr>
              <a:endParaRPr/>
            </a:p>
          </p:txBody>
        </p:sp>
      </p:grpSp>
      <p:sp>
        <p:nvSpPr>
          <p:cNvPr id="34" name="TextBox 34"/>
          <p:cNvSpPr txBox="1"/>
          <p:nvPr/>
        </p:nvSpPr>
        <p:spPr>
          <a:xfrm>
            <a:off x="2611543" y="5164592"/>
            <a:ext cx="5107471" cy="783590"/>
          </a:xfrm>
          <a:prstGeom prst="rect">
            <a:avLst/>
          </a:prstGeom>
        </p:spPr>
        <p:txBody>
          <a:bodyPr lIns="0" tIns="0" rIns="0" bIns="0" rtlCol="0" anchor="t">
            <a:spAutoFit/>
          </a:bodyPr>
          <a:lstStyle/>
          <a:p>
            <a:pPr algn="ctr">
              <a:lnSpc>
                <a:spcPts val="6160"/>
              </a:lnSpc>
            </a:pPr>
            <a:r>
              <a:rPr lang="en-US" sz="4400">
                <a:solidFill>
                  <a:srgbClr val="FFFFFF"/>
                </a:solidFill>
                <a:latin typeface="AC Diary Girl"/>
                <a:ea typeface="AC Diary Girl"/>
                <a:cs typeface="AC Diary Girl"/>
                <a:sym typeface="AC Diary Girl"/>
              </a:rPr>
              <a:t>Directory:</a:t>
            </a:r>
          </a:p>
        </p:txBody>
      </p:sp>
      <p:sp>
        <p:nvSpPr>
          <p:cNvPr id="35" name="TextBox 35"/>
          <p:cNvSpPr txBox="1"/>
          <p:nvPr/>
        </p:nvSpPr>
        <p:spPr>
          <a:xfrm>
            <a:off x="1935825" y="6138682"/>
            <a:ext cx="6270840" cy="1047750"/>
          </a:xfrm>
          <a:prstGeom prst="rect">
            <a:avLst/>
          </a:prstGeom>
        </p:spPr>
        <p:txBody>
          <a:bodyPr lIns="0" tIns="0" rIns="0" bIns="0" rtlCol="0" anchor="t">
            <a:spAutoFit/>
          </a:bodyPr>
          <a:lstStyle/>
          <a:p>
            <a:pPr algn="ctr">
              <a:lnSpc>
                <a:spcPts val="4200"/>
              </a:lnSpc>
            </a:pPr>
            <a:r>
              <a:rPr lang="en-US" sz="3000">
                <a:solidFill>
                  <a:srgbClr val="FFFFFF"/>
                </a:solidFill>
                <a:latin typeface="Nunito"/>
                <a:ea typeface="Nunito"/>
                <a:cs typeface="Nunito"/>
                <a:sym typeface="Nunito"/>
              </a:rPr>
              <a:t> Lists local markets, shops, and services with helpful details.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a:off x="3512678" y="2855267"/>
            <a:ext cx="1393186" cy="1125001"/>
            <a:chOff x="0" y="0"/>
            <a:chExt cx="366930" cy="296297"/>
          </a:xfrm>
        </p:grpSpPr>
        <p:sp>
          <p:nvSpPr>
            <p:cNvPr id="4" name="Freeform 4"/>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5" name="TextBox 5"/>
            <p:cNvSpPr txBox="1"/>
            <p:nvPr/>
          </p:nvSpPr>
          <p:spPr>
            <a:xfrm>
              <a:off x="0" y="-38100"/>
              <a:ext cx="366930" cy="33439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046771" y="3980268"/>
            <a:ext cx="4325000" cy="1751889"/>
            <a:chOff x="0" y="0"/>
            <a:chExt cx="1139095" cy="461403"/>
          </a:xfrm>
        </p:grpSpPr>
        <p:sp>
          <p:nvSpPr>
            <p:cNvPr id="7" name="Freeform 7"/>
            <p:cNvSpPr/>
            <p:nvPr/>
          </p:nvSpPr>
          <p:spPr>
            <a:xfrm>
              <a:off x="0" y="0"/>
              <a:ext cx="1139095" cy="461403"/>
            </a:xfrm>
            <a:custGeom>
              <a:avLst/>
              <a:gdLst/>
              <a:ahLst/>
              <a:cxnLst/>
              <a:rect l="l" t="t" r="r" b="b"/>
              <a:pathLst>
                <a:path w="1139095" h="461403">
                  <a:moveTo>
                    <a:pt x="179004" y="0"/>
                  </a:moveTo>
                  <a:lnTo>
                    <a:pt x="960091" y="0"/>
                  </a:lnTo>
                  <a:cubicBezTo>
                    <a:pt x="1058952" y="0"/>
                    <a:pt x="1139095" y="80143"/>
                    <a:pt x="1139095" y="179004"/>
                  </a:cubicBezTo>
                  <a:lnTo>
                    <a:pt x="1139095" y="282399"/>
                  </a:lnTo>
                  <a:cubicBezTo>
                    <a:pt x="1139095" y="329874"/>
                    <a:pt x="1120235" y="375404"/>
                    <a:pt x="1086666" y="408974"/>
                  </a:cubicBezTo>
                  <a:cubicBezTo>
                    <a:pt x="1053096" y="442544"/>
                    <a:pt x="1007565" y="461403"/>
                    <a:pt x="960091" y="461403"/>
                  </a:cubicBezTo>
                  <a:lnTo>
                    <a:pt x="179004" y="461403"/>
                  </a:lnTo>
                  <a:cubicBezTo>
                    <a:pt x="131529" y="461403"/>
                    <a:pt x="85999" y="442544"/>
                    <a:pt x="52429" y="408974"/>
                  </a:cubicBezTo>
                  <a:cubicBezTo>
                    <a:pt x="18859" y="375404"/>
                    <a:pt x="0" y="329874"/>
                    <a:pt x="0" y="282399"/>
                  </a:cubicBezTo>
                  <a:lnTo>
                    <a:pt x="0" y="179004"/>
                  </a:lnTo>
                  <a:cubicBezTo>
                    <a:pt x="0" y="131529"/>
                    <a:pt x="18859" y="85999"/>
                    <a:pt x="52429" y="52429"/>
                  </a:cubicBezTo>
                  <a:cubicBezTo>
                    <a:pt x="85999" y="18859"/>
                    <a:pt x="131529" y="0"/>
                    <a:pt x="179004" y="0"/>
                  </a:cubicBezTo>
                  <a:close/>
                </a:path>
              </a:pathLst>
            </a:custGeom>
            <a:solidFill>
              <a:srgbClr val="000000">
                <a:alpha val="0"/>
              </a:srgbClr>
            </a:solidFill>
            <a:ln w="47625" cap="rnd">
              <a:solidFill>
                <a:srgbClr val="337271"/>
              </a:solidFill>
              <a:prstDash val="lgDash"/>
              <a:round/>
            </a:ln>
          </p:spPr>
        </p:sp>
        <p:sp>
          <p:nvSpPr>
            <p:cNvPr id="8" name="TextBox 8"/>
            <p:cNvSpPr txBox="1"/>
            <p:nvPr/>
          </p:nvSpPr>
          <p:spPr>
            <a:xfrm>
              <a:off x="0" y="-38100"/>
              <a:ext cx="1139095" cy="499503"/>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755285" y="530173"/>
            <a:ext cx="9024249" cy="1628773"/>
          </a:xfrm>
          <a:prstGeom prst="rect">
            <a:avLst/>
          </a:prstGeom>
        </p:spPr>
        <p:txBody>
          <a:bodyPr lIns="0" tIns="0" rIns="0" bIns="0" rtlCol="0" anchor="t">
            <a:spAutoFit/>
          </a:bodyPr>
          <a:lstStyle/>
          <a:p>
            <a:pPr algn="ctr">
              <a:lnSpc>
                <a:spcPts val="12600"/>
              </a:lnSpc>
            </a:pPr>
            <a:r>
              <a:rPr lang="en-US" sz="9000">
                <a:solidFill>
                  <a:srgbClr val="337271"/>
                </a:solidFill>
                <a:latin typeface="AC Diary Girl"/>
                <a:ea typeface="AC Diary Girl"/>
                <a:cs typeface="AC Diary Girl"/>
                <a:sym typeface="AC Diary Girl"/>
              </a:rPr>
              <a:t>Key Features</a:t>
            </a:r>
          </a:p>
        </p:txBody>
      </p:sp>
      <p:sp>
        <p:nvSpPr>
          <p:cNvPr id="10" name="TextBox 10"/>
          <p:cNvSpPr txBox="1"/>
          <p:nvPr/>
        </p:nvSpPr>
        <p:spPr>
          <a:xfrm>
            <a:off x="2325518" y="4439128"/>
            <a:ext cx="3767506" cy="931545"/>
          </a:xfrm>
          <a:prstGeom prst="rect">
            <a:avLst/>
          </a:prstGeom>
        </p:spPr>
        <p:txBody>
          <a:bodyPr lIns="0" tIns="0" rIns="0" bIns="0" rtlCol="0" anchor="t">
            <a:spAutoFit/>
          </a:bodyPr>
          <a:lstStyle/>
          <a:p>
            <a:pPr algn="ctr">
              <a:lnSpc>
                <a:spcPts val="3779"/>
              </a:lnSpc>
            </a:pPr>
            <a:r>
              <a:rPr lang="en-US" sz="2699">
                <a:solidFill>
                  <a:srgbClr val="337271"/>
                </a:solidFill>
                <a:latin typeface="Nunito"/>
                <a:ea typeface="Nunito"/>
                <a:cs typeface="Nunito"/>
                <a:sym typeface="Nunito"/>
              </a:rPr>
              <a:t>Real-Time Price Tracking</a:t>
            </a:r>
          </a:p>
        </p:txBody>
      </p:sp>
      <p:grpSp>
        <p:nvGrpSpPr>
          <p:cNvPr id="11" name="Group 11"/>
          <p:cNvGrpSpPr/>
          <p:nvPr/>
        </p:nvGrpSpPr>
        <p:grpSpPr>
          <a:xfrm>
            <a:off x="8447407" y="3038355"/>
            <a:ext cx="1393186" cy="1125001"/>
            <a:chOff x="0" y="0"/>
            <a:chExt cx="366930" cy="296297"/>
          </a:xfrm>
        </p:grpSpPr>
        <p:sp>
          <p:nvSpPr>
            <p:cNvPr id="12" name="Freeform 12"/>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13" name="TextBox 13"/>
            <p:cNvSpPr txBox="1"/>
            <p:nvPr/>
          </p:nvSpPr>
          <p:spPr>
            <a:xfrm>
              <a:off x="0" y="-38100"/>
              <a:ext cx="366930" cy="334397"/>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6981500" y="4051898"/>
            <a:ext cx="4325000" cy="1680259"/>
            <a:chOff x="0" y="0"/>
            <a:chExt cx="1139095" cy="442537"/>
          </a:xfrm>
        </p:grpSpPr>
        <p:sp>
          <p:nvSpPr>
            <p:cNvPr id="15" name="Freeform 15"/>
            <p:cNvSpPr/>
            <p:nvPr/>
          </p:nvSpPr>
          <p:spPr>
            <a:xfrm>
              <a:off x="0" y="0"/>
              <a:ext cx="1139095" cy="442537"/>
            </a:xfrm>
            <a:custGeom>
              <a:avLst/>
              <a:gdLst/>
              <a:ahLst/>
              <a:cxnLst/>
              <a:rect l="l" t="t" r="r" b="b"/>
              <a:pathLst>
                <a:path w="1139095" h="442537">
                  <a:moveTo>
                    <a:pt x="179004" y="0"/>
                  </a:moveTo>
                  <a:lnTo>
                    <a:pt x="960091" y="0"/>
                  </a:lnTo>
                  <a:cubicBezTo>
                    <a:pt x="1058952" y="0"/>
                    <a:pt x="1139095" y="80143"/>
                    <a:pt x="1139095" y="179004"/>
                  </a:cubicBezTo>
                  <a:lnTo>
                    <a:pt x="1139095" y="263533"/>
                  </a:lnTo>
                  <a:cubicBezTo>
                    <a:pt x="1139095" y="311008"/>
                    <a:pt x="1120235" y="356539"/>
                    <a:pt x="1086666" y="390108"/>
                  </a:cubicBezTo>
                  <a:cubicBezTo>
                    <a:pt x="1053096" y="423678"/>
                    <a:pt x="1007565" y="442537"/>
                    <a:pt x="960091" y="442537"/>
                  </a:cubicBezTo>
                  <a:lnTo>
                    <a:pt x="179004" y="442537"/>
                  </a:lnTo>
                  <a:cubicBezTo>
                    <a:pt x="131529" y="442537"/>
                    <a:pt x="85999" y="423678"/>
                    <a:pt x="52429" y="390108"/>
                  </a:cubicBezTo>
                  <a:cubicBezTo>
                    <a:pt x="18859" y="356539"/>
                    <a:pt x="0" y="311008"/>
                    <a:pt x="0" y="263533"/>
                  </a:cubicBezTo>
                  <a:lnTo>
                    <a:pt x="0" y="179004"/>
                  </a:lnTo>
                  <a:cubicBezTo>
                    <a:pt x="0" y="131529"/>
                    <a:pt x="18859" y="85999"/>
                    <a:pt x="52429" y="52429"/>
                  </a:cubicBezTo>
                  <a:cubicBezTo>
                    <a:pt x="85999" y="18859"/>
                    <a:pt x="131529" y="0"/>
                    <a:pt x="179004" y="0"/>
                  </a:cubicBezTo>
                  <a:close/>
                </a:path>
              </a:pathLst>
            </a:custGeom>
            <a:solidFill>
              <a:srgbClr val="000000">
                <a:alpha val="0"/>
              </a:srgbClr>
            </a:solidFill>
            <a:ln w="47625" cap="rnd">
              <a:solidFill>
                <a:srgbClr val="337271"/>
              </a:solidFill>
              <a:prstDash val="lgDash"/>
              <a:round/>
            </a:ln>
          </p:spPr>
        </p:sp>
        <p:sp>
          <p:nvSpPr>
            <p:cNvPr id="16" name="TextBox 16"/>
            <p:cNvSpPr txBox="1"/>
            <p:nvPr/>
          </p:nvSpPr>
          <p:spPr>
            <a:xfrm>
              <a:off x="0" y="-38100"/>
              <a:ext cx="1139095" cy="480637"/>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7260247" y="4476532"/>
            <a:ext cx="3767506" cy="976630"/>
          </a:xfrm>
          <a:prstGeom prst="rect">
            <a:avLst/>
          </a:prstGeom>
        </p:spPr>
        <p:txBody>
          <a:bodyPr lIns="0" tIns="0" rIns="0" bIns="0" rtlCol="0" anchor="t">
            <a:spAutoFit/>
          </a:bodyPr>
          <a:lstStyle/>
          <a:p>
            <a:pPr algn="ctr">
              <a:lnSpc>
                <a:spcPts val="3919"/>
              </a:lnSpc>
            </a:pPr>
            <a:r>
              <a:rPr lang="en-US" sz="2799">
                <a:solidFill>
                  <a:srgbClr val="337271"/>
                </a:solidFill>
                <a:latin typeface="Nunito"/>
                <a:ea typeface="Nunito"/>
                <a:cs typeface="Nunito"/>
                <a:sym typeface="Nunito"/>
              </a:rPr>
              <a:t>Affordable Shopping Guides</a:t>
            </a:r>
          </a:p>
        </p:txBody>
      </p:sp>
      <p:grpSp>
        <p:nvGrpSpPr>
          <p:cNvPr id="18" name="Group 18"/>
          <p:cNvGrpSpPr/>
          <p:nvPr/>
        </p:nvGrpSpPr>
        <p:grpSpPr>
          <a:xfrm>
            <a:off x="13382136" y="3038355"/>
            <a:ext cx="1393186" cy="1125001"/>
            <a:chOff x="0" y="0"/>
            <a:chExt cx="366930" cy="296297"/>
          </a:xfrm>
        </p:grpSpPr>
        <p:sp>
          <p:nvSpPr>
            <p:cNvPr id="19" name="Freeform 19"/>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20" name="TextBox 20"/>
            <p:cNvSpPr txBox="1"/>
            <p:nvPr/>
          </p:nvSpPr>
          <p:spPr>
            <a:xfrm>
              <a:off x="0" y="-38100"/>
              <a:ext cx="366930" cy="334397"/>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19807" y="3980268"/>
            <a:ext cx="4325000" cy="1751889"/>
            <a:chOff x="0" y="0"/>
            <a:chExt cx="1139095" cy="461403"/>
          </a:xfrm>
        </p:grpSpPr>
        <p:sp>
          <p:nvSpPr>
            <p:cNvPr id="22" name="Freeform 22"/>
            <p:cNvSpPr/>
            <p:nvPr/>
          </p:nvSpPr>
          <p:spPr>
            <a:xfrm>
              <a:off x="0" y="0"/>
              <a:ext cx="1139095" cy="461403"/>
            </a:xfrm>
            <a:custGeom>
              <a:avLst/>
              <a:gdLst/>
              <a:ahLst/>
              <a:cxnLst/>
              <a:rect l="l" t="t" r="r" b="b"/>
              <a:pathLst>
                <a:path w="1139095" h="461403">
                  <a:moveTo>
                    <a:pt x="179004" y="0"/>
                  </a:moveTo>
                  <a:lnTo>
                    <a:pt x="960091" y="0"/>
                  </a:lnTo>
                  <a:cubicBezTo>
                    <a:pt x="1058952" y="0"/>
                    <a:pt x="1139095" y="80143"/>
                    <a:pt x="1139095" y="179004"/>
                  </a:cubicBezTo>
                  <a:lnTo>
                    <a:pt x="1139095" y="282399"/>
                  </a:lnTo>
                  <a:cubicBezTo>
                    <a:pt x="1139095" y="329874"/>
                    <a:pt x="1120235" y="375404"/>
                    <a:pt x="1086666" y="408974"/>
                  </a:cubicBezTo>
                  <a:cubicBezTo>
                    <a:pt x="1053096" y="442544"/>
                    <a:pt x="1007565" y="461403"/>
                    <a:pt x="960091" y="461403"/>
                  </a:cubicBezTo>
                  <a:lnTo>
                    <a:pt x="179004" y="461403"/>
                  </a:lnTo>
                  <a:cubicBezTo>
                    <a:pt x="131529" y="461403"/>
                    <a:pt x="85999" y="442544"/>
                    <a:pt x="52429" y="408974"/>
                  </a:cubicBezTo>
                  <a:cubicBezTo>
                    <a:pt x="18859" y="375404"/>
                    <a:pt x="0" y="329874"/>
                    <a:pt x="0" y="282399"/>
                  </a:cubicBezTo>
                  <a:lnTo>
                    <a:pt x="0" y="179004"/>
                  </a:lnTo>
                  <a:cubicBezTo>
                    <a:pt x="0" y="131529"/>
                    <a:pt x="18859" y="85999"/>
                    <a:pt x="52429" y="52429"/>
                  </a:cubicBezTo>
                  <a:cubicBezTo>
                    <a:pt x="85999" y="18859"/>
                    <a:pt x="131529" y="0"/>
                    <a:pt x="179004" y="0"/>
                  </a:cubicBezTo>
                  <a:close/>
                </a:path>
              </a:pathLst>
            </a:custGeom>
            <a:solidFill>
              <a:srgbClr val="000000">
                <a:alpha val="0"/>
              </a:srgbClr>
            </a:solidFill>
            <a:ln w="47625" cap="rnd">
              <a:solidFill>
                <a:srgbClr val="337271"/>
              </a:solidFill>
              <a:prstDash val="lgDash"/>
              <a:round/>
            </a:ln>
          </p:spPr>
        </p:sp>
        <p:sp>
          <p:nvSpPr>
            <p:cNvPr id="23" name="TextBox 23"/>
            <p:cNvSpPr txBox="1"/>
            <p:nvPr/>
          </p:nvSpPr>
          <p:spPr>
            <a:xfrm>
              <a:off x="0" y="-38100"/>
              <a:ext cx="1139095" cy="499503"/>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12198554" y="4429603"/>
            <a:ext cx="3767506" cy="976630"/>
          </a:xfrm>
          <a:prstGeom prst="rect">
            <a:avLst/>
          </a:prstGeom>
        </p:spPr>
        <p:txBody>
          <a:bodyPr lIns="0" tIns="0" rIns="0" bIns="0" rtlCol="0" anchor="t">
            <a:spAutoFit/>
          </a:bodyPr>
          <a:lstStyle/>
          <a:p>
            <a:pPr algn="ctr">
              <a:lnSpc>
                <a:spcPts val="3919"/>
              </a:lnSpc>
            </a:pPr>
            <a:r>
              <a:rPr lang="en-US" sz="2799">
                <a:solidFill>
                  <a:srgbClr val="337271"/>
                </a:solidFill>
                <a:latin typeface="Nunito"/>
                <a:ea typeface="Nunito"/>
                <a:cs typeface="Nunito"/>
                <a:sym typeface="Nunito"/>
              </a:rPr>
              <a:t>Community Events &amp; Workshops</a:t>
            </a:r>
          </a:p>
        </p:txBody>
      </p:sp>
      <p:sp>
        <p:nvSpPr>
          <p:cNvPr id="25" name="TextBox 25"/>
          <p:cNvSpPr txBox="1"/>
          <p:nvPr/>
        </p:nvSpPr>
        <p:spPr>
          <a:xfrm>
            <a:off x="3663257" y="2895480"/>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1</a:t>
            </a:r>
          </a:p>
        </p:txBody>
      </p:sp>
      <p:sp>
        <p:nvSpPr>
          <p:cNvPr id="26" name="TextBox 26"/>
          <p:cNvSpPr txBox="1"/>
          <p:nvPr/>
        </p:nvSpPr>
        <p:spPr>
          <a:xfrm>
            <a:off x="8597986" y="3091804"/>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2</a:t>
            </a:r>
          </a:p>
        </p:txBody>
      </p:sp>
      <p:sp>
        <p:nvSpPr>
          <p:cNvPr id="27" name="TextBox 27"/>
          <p:cNvSpPr txBox="1"/>
          <p:nvPr/>
        </p:nvSpPr>
        <p:spPr>
          <a:xfrm>
            <a:off x="13536293" y="3150198"/>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3</a:t>
            </a:r>
          </a:p>
        </p:txBody>
      </p:sp>
      <p:sp>
        <p:nvSpPr>
          <p:cNvPr id="28" name="Freeform 28"/>
          <p:cNvSpPr/>
          <p:nvPr/>
        </p:nvSpPr>
        <p:spPr>
          <a:xfrm>
            <a:off x="-334072" y="-1475968"/>
            <a:ext cx="3808435" cy="4114800"/>
          </a:xfrm>
          <a:custGeom>
            <a:avLst/>
            <a:gdLst/>
            <a:ahLst/>
            <a:cxnLst/>
            <a:rect l="l" t="t" r="r" b="b"/>
            <a:pathLst>
              <a:path w="3808435" h="4114800">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29" name="Group 29"/>
          <p:cNvGrpSpPr/>
          <p:nvPr/>
        </p:nvGrpSpPr>
        <p:grpSpPr>
          <a:xfrm>
            <a:off x="9603489" y="7734041"/>
            <a:ext cx="4241714" cy="1801985"/>
            <a:chOff x="0" y="0"/>
            <a:chExt cx="1117159" cy="474597"/>
          </a:xfrm>
        </p:grpSpPr>
        <p:sp>
          <p:nvSpPr>
            <p:cNvPr id="30" name="Freeform 30"/>
            <p:cNvSpPr/>
            <p:nvPr/>
          </p:nvSpPr>
          <p:spPr>
            <a:xfrm>
              <a:off x="0" y="0"/>
              <a:ext cx="1117159" cy="474597"/>
            </a:xfrm>
            <a:custGeom>
              <a:avLst/>
              <a:gdLst/>
              <a:ahLst/>
              <a:cxnLst/>
              <a:rect l="l" t="t" r="r" b="b"/>
              <a:pathLst>
                <a:path w="1117159" h="474597">
                  <a:moveTo>
                    <a:pt x="182519" y="0"/>
                  </a:moveTo>
                  <a:lnTo>
                    <a:pt x="934641" y="0"/>
                  </a:lnTo>
                  <a:cubicBezTo>
                    <a:pt x="1035443" y="0"/>
                    <a:pt x="1117159" y="81716"/>
                    <a:pt x="1117159" y="182519"/>
                  </a:cubicBezTo>
                  <a:lnTo>
                    <a:pt x="1117159" y="292078"/>
                  </a:lnTo>
                  <a:cubicBezTo>
                    <a:pt x="1117159" y="340485"/>
                    <a:pt x="1097930" y="386909"/>
                    <a:pt x="1063701" y="421138"/>
                  </a:cubicBezTo>
                  <a:cubicBezTo>
                    <a:pt x="1029472" y="455367"/>
                    <a:pt x="983048" y="474597"/>
                    <a:pt x="934641" y="474597"/>
                  </a:cubicBezTo>
                  <a:lnTo>
                    <a:pt x="182519" y="474597"/>
                  </a:lnTo>
                  <a:cubicBezTo>
                    <a:pt x="134112" y="474597"/>
                    <a:pt x="87687" y="455367"/>
                    <a:pt x="53458" y="421138"/>
                  </a:cubicBezTo>
                  <a:cubicBezTo>
                    <a:pt x="19230" y="386909"/>
                    <a:pt x="0" y="340485"/>
                    <a:pt x="0" y="292078"/>
                  </a:cubicBezTo>
                  <a:lnTo>
                    <a:pt x="0" y="182519"/>
                  </a:lnTo>
                  <a:cubicBezTo>
                    <a:pt x="0" y="134112"/>
                    <a:pt x="19230" y="87687"/>
                    <a:pt x="53458" y="53458"/>
                  </a:cubicBezTo>
                  <a:cubicBezTo>
                    <a:pt x="87687" y="19230"/>
                    <a:pt x="134112" y="0"/>
                    <a:pt x="182519" y="0"/>
                  </a:cubicBezTo>
                  <a:close/>
                </a:path>
              </a:pathLst>
            </a:custGeom>
            <a:solidFill>
              <a:srgbClr val="000000">
                <a:alpha val="0"/>
              </a:srgbClr>
            </a:solidFill>
            <a:ln w="47625" cap="rnd">
              <a:solidFill>
                <a:srgbClr val="337271"/>
              </a:solidFill>
              <a:prstDash val="lgDash"/>
              <a:round/>
            </a:ln>
          </p:spPr>
        </p:sp>
        <p:sp>
          <p:nvSpPr>
            <p:cNvPr id="31" name="TextBox 31"/>
            <p:cNvSpPr txBox="1"/>
            <p:nvPr/>
          </p:nvSpPr>
          <p:spPr>
            <a:xfrm>
              <a:off x="0" y="-38100"/>
              <a:ext cx="1117159" cy="512697"/>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4209271" y="7627632"/>
            <a:ext cx="4253953" cy="1850488"/>
            <a:chOff x="0" y="0"/>
            <a:chExt cx="1120383" cy="487371"/>
          </a:xfrm>
        </p:grpSpPr>
        <p:sp>
          <p:nvSpPr>
            <p:cNvPr id="33" name="Freeform 33"/>
            <p:cNvSpPr/>
            <p:nvPr/>
          </p:nvSpPr>
          <p:spPr>
            <a:xfrm>
              <a:off x="0" y="0"/>
              <a:ext cx="1120383" cy="487371"/>
            </a:xfrm>
            <a:custGeom>
              <a:avLst/>
              <a:gdLst/>
              <a:ahLst/>
              <a:cxnLst/>
              <a:rect l="l" t="t" r="r" b="b"/>
              <a:pathLst>
                <a:path w="1120383" h="487371">
                  <a:moveTo>
                    <a:pt x="181994" y="0"/>
                  </a:moveTo>
                  <a:lnTo>
                    <a:pt x="938389" y="0"/>
                  </a:lnTo>
                  <a:cubicBezTo>
                    <a:pt x="1038901" y="0"/>
                    <a:pt x="1120383" y="81481"/>
                    <a:pt x="1120383" y="181994"/>
                  </a:cubicBezTo>
                  <a:lnTo>
                    <a:pt x="1120383" y="305378"/>
                  </a:lnTo>
                  <a:cubicBezTo>
                    <a:pt x="1120383" y="353645"/>
                    <a:pt x="1101208" y="399936"/>
                    <a:pt x="1067078" y="434067"/>
                  </a:cubicBezTo>
                  <a:cubicBezTo>
                    <a:pt x="1032948" y="468197"/>
                    <a:pt x="986657" y="487371"/>
                    <a:pt x="938389" y="487371"/>
                  </a:cubicBezTo>
                  <a:lnTo>
                    <a:pt x="181994" y="487371"/>
                  </a:lnTo>
                  <a:cubicBezTo>
                    <a:pt x="133726" y="487371"/>
                    <a:pt x="87435" y="468197"/>
                    <a:pt x="53305" y="434067"/>
                  </a:cubicBezTo>
                  <a:cubicBezTo>
                    <a:pt x="19174" y="399936"/>
                    <a:pt x="0" y="353645"/>
                    <a:pt x="0" y="305378"/>
                  </a:cubicBezTo>
                  <a:lnTo>
                    <a:pt x="0" y="181994"/>
                  </a:lnTo>
                  <a:cubicBezTo>
                    <a:pt x="0" y="133726"/>
                    <a:pt x="19174" y="87435"/>
                    <a:pt x="53305" y="53305"/>
                  </a:cubicBezTo>
                  <a:cubicBezTo>
                    <a:pt x="87435" y="19174"/>
                    <a:pt x="133726" y="0"/>
                    <a:pt x="181994" y="0"/>
                  </a:cubicBezTo>
                  <a:close/>
                </a:path>
              </a:pathLst>
            </a:custGeom>
            <a:solidFill>
              <a:srgbClr val="000000">
                <a:alpha val="0"/>
              </a:srgbClr>
            </a:solidFill>
            <a:ln w="47625" cap="rnd">
              <a:solidFill>
                <a:srgbClr val="337271"/>
              </a:solidFill>
              <a:prstDash val="lgDash"/>
              <a:round/>
            </a:ln>
          </p:spPr>
        </p:sp>
        <p:sp>
          <p:nvSpPr>
            <p:cNvPr id="34" name="TextBox 34"/>
            <p:cNvSpPr txBox="1"/>
            <p:nvPr/>
          </p:nvSpPr>
          <p:spPr>
            <a:xfrm>
              <a:off x="0" y="-38100"/>
              <a:ext cx="1120383" cy="525471"/>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5867060" y="6893814"/>
            <a:ext cx="1393186" cy="1125001"/>
            <a:chOff x="0" y="0"/>
            <a:chExt cx="366930" cy="296297"/>
          </a:xfrm>
        </p:grpSpPr>
        <p:sp>
          <p:nvSpPr>
            <p:cNvPr id="36" name="Freeform 36"/>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37" name="TextBox 37"/>
            <p:cNvSpPr txBox="1"/>
            <p:nvPr/>
          </p:nvSpPr>
          <p:spPr>
            <a:xfrm>
              <a:off x="0" y="-38100"/>
              <a:ext cx="366930" cy="334397"/>
            </a:xfrm>
            <a:prstGeom prst="rect">
              <a:avLst/>
            </a:prstGeom>
          </p:spPr>
          <p:txBody>
            <a:bodyPr lIns="50800" tIns="50800" rIns="50800" bIns="50800" rtlCol="0" anchor="ctr"/>
            <a:lstStyle/>
            <a:p>
              <a:pPr algn="ctr">
                <a:lnSpc>
                  <a:spcPts val="2659"/>
                </a:lnSpc>
                <a:spcBef>
                  <a:spcPct val="0"/>
                </a:spcBef>
              </a:pPr>
              <a:endParaRPr/>
            </a:p>
          </p:txBody>
        </p:sp>
      </p:grpSp>
      <p:grpSp>
        <p:nvGrpSpPr>
          <p:cNvPr id="38" name="Group 38"/>
          <p:cNvGrpSpPr/>
          <p:nvPr/>
        </p:nvGrpSpPr>
        <p:grpSpPr>
          <a:xfrm>
            <a:off x="11027753" y="6893814"/>
            <a:ext cx="1393186" cy="1125001"/>
            <a:chOff x="0" y="0"/>
            <a:chExt cx="366930" cy="296297"/>
          </a:xfrm>
        </p:grpSpPr>
        <p:sp>
          <p:nvSpPr>
            <p:cNvPr id="39" name="Freeform 39"/>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40" name="TextBox 40"/>
            <p:cNvSpPr txBox="1"/>
            <p:nvPr/>
          </p:nvSpPr>
          <p:spPr>
            <a:xfrm>
              <a:off x="0" y="-38100"/>
              <a:ext cx="366930" cy="334397"/>
            </a:xfrm>
            <a:prstGeom prst="rect">
              <a:avLst/>
            </a:prstGeom>
          </p:spPr>
          <p:txBody>
            <a:bodyPr lIns="50800" tIns="50800" rIns="50800" bIns="50800" rtlCol="0" anchor="ctr"/>
            <a:lstStyle/>
            <a:p>
              <a:pPr algn="ctr">
                <a:lnSpc>
                  <a:spcPts val="2659"/>
                </a:lnSpc>
                <a:spcBef>
                  <a:spcPct val="0"/>
                </a:spcBef>
              </a:pPr>
              <a:endParaRPr/>
            </a:p>
          </p:txBody>
        </p:sp>
      </p:grpSp>
      <p:sp>
        <p:nvSpPr>
          <p:cNvPr id="41" name="TextBox 41"/>
          <p:cNvSpPr txBox="1"/>
          <p:nvPr/>
        </p:nvSpPr>
        <p:spPr>
          <a:xfrm>
            <a:off x="6017639" y="6958279"/>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4</a:t>
            </a:r>
          </a:p>
        </p:txBody>
      </p:sp>
      <p:sp>
        <p:nvSpPr>
          <p:cNvPr id="42" name="TextBox 42"/>
          <p:cNvSpPr txBox="1"/>
          <p:nvPr/>
        </p:nvSpPr>
        <p:spPr>
          <a:xfrm>
            <a:off x="11100297" y="6958279"/>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5</a:t>
            </a:r>
          </a:p>
        </p:txBody>
      </p:sp>
      <p:sp>
        <p:nvSpPr>
          <p:cNvPr id="43" name="TextBox 43"/>
          <p:cNvSpPr txBox="1"/>
          <p:nvPr/>
        </p:nvSpPr>
        <p:spPr>
          <a:xfrm>
            <a:off x="9840593" y="8187726"/>
            <a:ext cx="3767506" cy="1002665"/>
          </a:xfrm>
          <a:prstGeom prst="rect">
            <a:avLst/>
          </a:prstGeom>
        </p:spPr>
        <p:txBody>
          <a:bodyPr lIns="0" tIns="0" rIns="0" bIns="0" rtlCol="0" anchor="t">
            <a:spAutoFit/>
          </a:bodyPr>
          <a:lstStyle/>
          <a:p>
            <a:pPr algn="ctr">
              <a:lnSpc>
                <a:spcPts val="4059"/>
              </a:lnSpc>
            </a:pPr>
            <a:r>
              <a:rPr lang="en-US" sz="2899">
                <a:solidFill>
                  <a:srgbClr val="337271"/>
                </a:solidFill>
                <a:latin typeface="Nunito"/>
                <a:ea typeface="Nunito"/>
                <a:cs typeface="Nunito"/>
                <a:sym typeface="Nunito"/>
              </a:rPr>
              <a:t>Light/Dark Mode with Modern UI</a:t>
            </a:r>
          </a:p>
        </p:txBody>
      </p:sp>
      <p:sp>
        <p:nvSpPr>
          <p:cNvPr id="44" name="TextBox 44"/>
          <p:cNvSpPr txBox="1"/>
          <p:nvPr/>
        </p:nvSpPr>
        <p:spPr>
          <a:xfrm>
            <a:off x="4488018" y="8152166"/>
            <a:ext cx="3767506" cy="1002665"/>
          </a:xfrm>
          <a:prstGeom prst="rect">
            <a:avLst/>
          </a:prstGeom>
        </p:spPr>
        <p:txBody>
          <a:bodyPr lIns="0" tIns="0" rIns="0" bIns="0" rtlCol="0" anchor="t">
            <a:spAutoFit/>
          </a:bodyPr>
          <a:lstStyle/>
          <a:p>
            <a:pPr algn="ctr">
              <a:lnSpc>
                <a:spcPts val="4059"/>
              </a:lnSpc>
            </a:pPr>
            <a:r>
              <a:rPr lang="en-US" sz="2899">
                <a:solidFill>
                  <a:srgbClr val="337271"/>
                </a:solidFill>
                <a:latin typeface="Nunito"/>
                <a:ea typeface="Nunito"/>
                <a:cs typeface="Nunito"/>
                <a:sym typeface="Nunito"/>
              </a:rPr>
              <a:t>Local Business Directory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a:off x="3512678" y="2855267"/>
            <a:ext cx="1393186" cy="1125001"/>
            <a:chOff x="0" y="0"/>
            <a:chExt cx="366930" cy="296297"/>
          </a:xfrm>
        </p:grpSpPr>
        <p:sp>
          <p:nvSpPr>
            <p:cNvPr id="4" name="Freeform 4"/>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5" name="TextBox 5"/>
            <p:cNvSpPr txBox="1"/>
            <p:nvPr/>
          </p:nvSpPr>
          <p:spPr>
            <a:xfrm>
              <a:off x="0" y="-38100"/>
              <a:ext cx="366930" cy="33439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046771" y="3980268"/>
            <a:ext cx="4325000" cy="1751889"/>
            <a:chOff x="0" y="0"/>
            <a:chExt cx="1139095" cy="461403"/>
          </a:xfrm>
        </p:grpSpPr>
        <p:sp>
          <p:nvSpPr>
            <p:cNvPr id="7" name="Freeform 7"/>
            <p:cNvSpPr/>
            <p:nvPr/>
          </p:nvSpPr>
          <p:spPr>
            <a:xfrm>
              <a:off x="0" y="0"/>
              <a:ext cx="1139095" cy="461403"/>
            </a:xfrm>
            <a:custGeom>
              <a:avLst/>
              <a:gdLst/>
              <a:ahLst/>
              <a:cxnLst/>
              <a:rect l="l" t="t" r="r" b="b"/>
              <a:pathLst>
                <a:path w="1139095" h="461403">
                  <a:moveTo>
                    <a:pt x="179004" y="0"/>
                  </a:moveTo>
                  <a:lnTo>
                    <a:pt x="960091" y="0"/>
                  </a:lnTo>
                  <a:cubicBezTo>
                    <a:pt x="1058952" y="0"/>
                    <a:pt x="1139095" y="80143"/>
                    <a:pt x="1139095" y="179004"/>
                  </a:cubicBezTo>
                  <a:lnTo>
                    <a:pt x="1139095" y="282399"/>
                  </a:lnTo>
                  <a:cubicBezTo>
                    <a:pt x="1139095" y="329874"/>
                    <a:pt x="1120235" y="375404"/>
                    <a:pt x="1086666" y="408974"/>
                  </a:cubicBezTo>
                  <a:cubicBezTo>
                    <a:pt x="1053096" y="442544"/>
                    <a:pt x="1007565" y="461403"/>
                    <a:pt x="960091" y="461403"/>
                  </a:cubicBezTo>
                  <a:lnTo>
                    <a:pt x="179004" y="461403"/>
                  </a:lnTo>
                  <a:cubicBezTo>
                    <a:pt x="131529" y="461403"/>
                    <a:pt x="85999" y="442544"/>
                    <a:pt x="52429" y="408974"/>
                  </a:cubicBezTo>
                  <a:cubicBezTo>
                    <a:pt x="18859" y="375404"/>
                    <a:pt x="0" y="329874"/>
                    <a:pt x="0" y="282399"/>
                  </a:cubicBezTo>
                  <a:lnTo>
                    <a:pt x="0" y="179004"/>
                  </a:lnTo>
                  <a:cubicBezTo>
                    <a:pt x="0" y="131529"/>
                    <a:pt x="18859" y="85999"/>
                    <a:pt x="52429" y="52429"/>
                  </a:cubicBezTo>
                  <a:cubicBezTo>
                    <a:pt x="85999" y="18859"/>
                    <a:pt x="131529" y="0"/>
                    <a:pt x="179004" y="0"/>
                  </a:cubicBezTo>
                  <a:close/>
                </a:path>
              </a:pathLst>
            </a:custGeom>
            <a:solidFill>
              <a:srgbClr val="000000">
                <a:alpha val="0"/>
              </a:srgbClr>
            </a:solidFill>
            <a:ln w="47625" cap="rnd">
              <a:solidFill>
                <a:srgbClr val="337271"/>
              </a:solidFill>
              <a:prstDash val="lgDash"/>
              <a:round/>
            </a:ln>
          </p:spPr>
        </p:sp>
        <p:sp>
          <p:nvSpPr>
            <p:cNvPr id="8" name="TextBox 8"/>
            <p:cNvSpPr txBox="1"/>
            <p:nvPr/>
          </p:nvSpPr>
          <p:spPr>
            <a:xfrm>
              <a:off x="0" y="-38100"/>
              <a:ext cx="1139095" cy="499503"/>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755285" y="530173"/>
            <a:ext cx="10017386" cy="1628773"/>
          </a:xfrm>
          <a:prstGeom prst="rect">
            <a:avLst/>
          </a:prstGeom>
        </p:spPr>
        <p:txBody>
          <a:bodyPr lIns="0" tIns="0" rIns="0" bIns="0" rtlCol="0" anchor="t">
            <a:spAutoFit/>
          </a:bodyPr>
          <a:lstStyle/>
          <a:p>
            <a:pPr algn="ctr">
              <a:lnSpc>
                <a:spcPts val="12600"/>
              </a:lnSpc>
            </a:pPr>
            <a:r>
              <a:rPr lang="en-US" sz="9000">
                <a:solidFill>
                  <a:srgbClr val="337271"/>
                </a:solidFill>
                <a:latin typeface="AC Diary Girl"/>
                <a:ea typeface="AC Diary Girl"/>
                <a:cs typeface="AC Diary Girl"/>
                <a:sym typeface="AC Diary Girl"/>
              </a:rPr>
              <a:t>Design Highlights</a:t>
            </a:r>
          </a:p>
        </p:txBody>
      </p:sp>
      <p:sp>
        <p:nvSpPr>
          <p:cNvPr id="10" name="TextBox 10"/>
          <p:cNvSpPr txBox="1"/>
          <p:nvPr/>
        </p:nvSpPr>
        <p:spPr>
          <a:xfrm>
            <a:off x="2325518" y="4358627"/>
            <a:ext cx="3767506" cy="1019175"/>
          </a:xfrm>
          <a:prstGeom prst="rect">
            <a:avLst/>
          </a:prstGeom>
        </p:spPr>
        <p:txBody>
          <a:bodyPr lIns="0" tIns="0" rIns="0" bIns="0" rtlCol="0" anchor="t">
            <a:spAutoFit/>
          </a:bodyPr>
          <a:lstStyle/>
          <a:p>
            <a:pPr algn="ctr">
              <a:lnSpc>
                <a:spcPts val="4199"/>
              </a:lnSpc>
            </a:pPr>
            <a:r>
              <a:rPr lang="en-US" sz="2999">
                <a:solidFill>
                  <a:srgbClr val="337271"/>
                </a:solidFill>
                <a:latin typeface="Nunito"/>
                <a:ea typeface="Nunito"/>
                <a:cs typeface="Nunito"/>
                <a:sym typeface="Nunito"/>
              </a:rPr>
              <a:t>User-Friendly Interface</a:t>
            </a:r>
          </a:p>
        </p:txBody>
      </p:sp>
      <p:grpSp>
        <p:nvGrpSpPr>
          <p:cNvPr id="11" name="Group 11"/>
          <p:cNvGrpSpPr/>
          <p:nvPr/>
        </p:nvGrpSpPr>
        <p:grpSpPr>
          <a:xfrm>
            <a:off x="8447407" y="3038355"/>
            <a:ext cx="1393186" cy="1125001"/>
            <a:chOff x="0" y="0"/>
            <a:chExt cx="366930" cy="296297"/>
          </a:xfrm>
        </p:grpSpPr>
        <p:sp>
          <p:nvSpPr>
            <p:cNvPr id="12" name="Freeform 12"/>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13" name="TextBox 13"/>
            <p:cNvSpPr txBox="1"/>
            <p:nvPr/>
          </p:nvSpPr>
          <p:spPr>
            <a:xfrm>
              <a:off x="0" y="-38100"/>
              <a:ext cx="366930" cy="334397"/>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6981500" y="4051898"/>
            <a:ext cx="4325000" cy="1680259"/>
            <a:chOff x="0" y="0"/>
            <a:chExt cx="1139095" cy="442537"/>
          </a:xfrm>
        </p:grpSpPr>
        <p:sp>
          <p:nvSpPr>
            <p:cNvPr id="15" name="Freeform 15"/>
            <p:cNvSpPr/>
            <p:nvPr/>
          </p:nvSpPr>
          <p:spPr>
            <a:xfrm>
              <a:off x="0" y="0"/>
              <a:ext cx="1139095" cy="442537"/>
            </a:xfrm>
            <a:custGeom>
              <a:avLst/>
              <a:gdLst/>
              <a:ahLst/>
              <a:cxnLst/>
              <a:rect l="l" t="t" r="r" b="b"/>
              <a:pathLst>
                <a:path w="1139095" h="442537">
                  <a:moveTo>
                    <a:pt x="179004" y="0"/>
                  </a:moveTo>
                  <a:lnTo>
                    <a:pt x="960091" y="0"/>
                  </a:lnTo>
                  <a:cubicBezTo>
                    <a:pt x="1058952" y="0"/>
                    <a:pt x="1139095" y="80143"/>
                    <a:pt x="1139095" y="179004"/>
                  </a:cubicBezTo>
                  <a:lnTo>
                    <a:pt x="1139095" y="263533"/>
                  </a:lnTo>
                  <a:cubicBezTo>
                    <a:pt x="1139095" y="311008"/>
                    <a:pt x="1120235" y="356539"/>
                    <a:pt x="1086666" y="390108"/>
                  </a:cubicBezTo>
                  <a:cubicBezTo>
                    <a:pt x="1053096" y="423678"/>
                    <a:pt x="1007565" y="442537"/>
                    <a:pt x="960091" y="442537"/>
                  </a:cubicBezTo>
                  <a:lnTo>
                    <a:pt x="179004" y="442537"/>
                  </a:lnTo>
                  <a:cubicBezTo>
                    <a:pt x="131529" y="442537"/>
                    <a:pt x="85999" y="423678"/>
                    <a:pt x="52429" y="390108"/>
                  </a:cubicBezTo>
                  <a:cubicBezTo>
                    <a:pt x="18859" y="356539"/>
                    <a:pt x="0" y="311008"/>
                    <a:pt x="0" y="263533"/>
                  </a:cubicBezTo>
                  <a:lnTo>
                    <a:pt x="0" y="179004"/>
                  </a:lnTo>
                  <a:cubicBezTo>
                    <a:pt x="0" y="131529"/>
                    <a:pt x="18859" y="85999"/>
                    <a:pt x="52429" y="52429"/>
                  </a:cubicBezTo>
                  <a:cubicBezTo>
                    <a:pt x="85999" y="18859"/>
                    <a:pt x="131529" y="0"/>
                    <a:pt x="179004" y="0"/>
                  </a:cubicBezTo>
                  <a:close/>
                </a:path>
              </a:pathLst>
            </a:custGeom>
            <a:solidFill>
              <a:srgbClr val="000000">
                <a:alpha val="0"/>
              </a:srgbClr>
            </a:solidFill>
            <a:ln w="47625" cap="rnd">
              <a:solidFill>
                <a:srgbClr val="337271"/>
              </a:solidFill>
              <a:prstDash val="lgDash"/>
              <a:round/>
            </a:ln>
          </p:spPr>
        </p:sp>
        <p:sp>
          <p:nvSpPr>
            <p:cNvPr id="16" name="TextBox 16"/>
            <p:cNvSpPr txBox="1"/>
            <p:nvPr/>
          </p:nvSpPr>
          <p:spPr>
            <a:xfrm>
              <a:off x="0" y="-38100"/>
              <a:ext cx="1139095" cy="480637"/>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7260247" y="4584750"/>
            <a:ext cx="3767506" cy="495300"/>
          </a:xfrm>
          <a:prstGeom prst="rect">
            <a:avLst/>
          </a:prstGeom>
        </p:spPr>
        <p:txBody>
          <a:bodyPr lIns="0" tIns="0" rIns="0" bIns="0" rtlCol="0" anchor="t">
            <a:spAutoFit/>
          </a:bodyPr>
          <a:lstStyle/>
          <a:p>
            <a:pPr algn="ctr">
              <a:lnSpc>
                <a:spcPts val="4199"/>
              </a:lnSpc>
            </a:pPr>
            <a:r>
              <a:rPr lang="en-US" sz="2999">
                <a:solidFill>
                  <a:srgbClr val="337271"/>
                </a:solidFill>
                <a:latin typeface="Nunito"/>
                <a:ea typeface="Nunito"/>
                <a:cs typeface="Nunito"/>
                <a:sym typeface="Nunito"/>
              </a:rPr>
              <a:t>Responsive Design</a:t>
            </a:r>
          </a:p>
        </p:txBody>
      </p:sp>
      <p:grpSp>
        <p:nvGrpSpPr>
          <p:cNvPr id="18" name="Group 18"/>
          <p:cNvGrpSpPr/>
          <p:nvPr/>
        </p:nvGrpSpPr>
        <p:grpSpPr>
          <a:xfrm>
            <a:off x="13382136" y="3038355"/>
            <a:ext cx="1393186" cy="1125001"/>
            <a:chOff x="0" y="0"/>
            <a:chExt cx="366930" cy="296297"/>
          </a:xfrm>
        </p:grpSpPr>
        <p:sp>
          <p:nvSpPr>
            <p:cNvPr id="19" name="Freeform 19"/>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20" name="TextBox 20"/>
            <p:cNvSpPr txBox="1"/>
            <p:nvPr/>
          </p:nvSpPr>
          <p:spPr>
            <a:xfrm>
              <a:off x="0" y="-38100"/>
              <a:ext cx="366930" cy="334397"/>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19807" y="3980268"/>
            <a:ext cx="4325000" cy="1751889"/>
            <a:chOff x="0" y="0"/>
            <a:chExt cx="1139095" cy="461403"/>
          </a:xfrm>
        </p:grpSpPr>
        <p:sp>
          <p:nvSpPr>
            <p:cNvPr id="22" name="Freeform 22"/>
            <p:cNvSpPr/>
            <p:nvPr/>
          </p:nvSpPr>
          <p:spPr>
            <a:xfrm>
              <a:off x="0" y="0"/>
              <a:ext cx="1139095" cy="461403"/>
            </a:xfrm>
            <a:custGeom>
              <a:avLst/>
              <a:gdLst/>
              <a:ahLst/>
              <a:cxnLst/>
              <a:rect l="l" t="t" r="r" b="b"/>
              <a:pathLst>
                <a:path w="1139095" h="461403">
                  <a:moveTo>
                    <a:pt x="179004" y="0"/>
                  </a:moveTo>
                  <a:lnTo>
                    <a:pt x="960091" y="0"/>
                  </a:lnTo>
                  <a:cubicBezTo>
                    <a:pt x="1058952" y="0"/>
                    <a:pt x="1139095" y="80143"/>
                    <a:pt x="1139095" y="179004"/>
                  </a:cubicBezTo>
                  <a:lnTo>
                    <a:pt x="1139095" y="282399"/>
                  </a:lnTo>
                  <a:cubicBezTo>
                    <a:pt x="1139095" y="329874"/>
                    <a:pt x="1120235" y="375404"/>
                    <a:pt x="1086666" y="408974"/>
                  </a:cubicBezTo>
                  <a:cubicBezTo>
                    <a:pt x="1053096" y="442544"/>
                    <a:pt x="1007565" y="461403"/>
                    <a:pt x="960091" y="461403"/>
                  </a:cubicBezTo>
                  <a:lnTo>
                    <a:pt x="179004" y="461403"/>
                  </a:lnTo>
                  <a:cubicBezTo>
                    <a:pt x="131529" y="461403"/>
                    <a:pt x="85999" y="442544"/>
                    <a:pt x="52429" y="408974"/>
                  </a:cubicBezTo>
                  <a:cubicBezTo>
                    <a:pt x="18859" y="375404"/>
                    <a:pt x="0" y="329874"/>
                    <a:pt x="0" y="282399"/>
                  </a:cubicBezTo>
                  <a:lnTo>
                    <a:pt x="0" y="179004"/>
                  </a:lnTo>
                  <a:cubicBezTo>
                    <a:pt x="0" y="131529"/>
                    <a:pt x="18859" y="85999"/>
                    <a:pt x="52429" y="52429"/>
                  </a:cubicBezTo>
                  <a:cubicBezTo>
                    <a:pt x="85999" y="18859"/>
                    <a:pt x="131529" y="0"/>
                    <a:pt x="179004" y="0"/>
                  </a:cubicBezTo>
                  <a:close/>
                </a:path>
              </a:pathLst>
            </a:custGeom>
            <a:solidFill>
              <a:srgbClr val="000000">
                <a:alpha val="0"/>
              </a:srgbClr>
            </a:solidFill>
            <a:ln w="47625" cap="rnd">
              <a:solidFill>
                <a:srgbClr val="337271"/>
              </a:solidFill>
              <a:prstDash val="lgDash"/>
              <a:round/>
            </a:ln>
          </p:spPr>
        </p:sp>
        <p:sp>
          <p:nvSpPr>
            <p:cNvPr id="23" name="TextBox 23"/>
            <p:cNvSpPr txBox="1"/>
            <p:nvPr/>
          </p:nvSpPr>
          <p:spPr>
            <a:xfrm>
              <a:off x="0" y="-38100"/>
              <a:ext cx="1139095" cy="499503"/>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12192325" y="4620565"/>
            <a:ext cx="3767506" cy="495300"/>
          </a:xfrm>
          <a:prstGeom prst="rect">
            <a:avLst/>
          </a:prstGeom>
        </p:spPr>
        <p:txBody>
          <a:bodyPr lIns="0" tIns="0" rIns="0" bIns="0" rtlCol="0" anchor="t">
            <a:spAutoFit/>
          </a:bodyPr>
          <a:lstStyle/>
          <a:p>
            <a:pPr algn="ctr">
              <a:lnSpc>
                <a:spcPts val="4199"/>
              </a:lnSpc>
            </a:pPr>
            <a:r>
              <a:rPr lang="en-US" sz="2999">
                <a:solidFill>
                  <a:srgbClr val="337271"/>
                </a:solidFill>
                <a:latin typeface="Nunito"/>
                <a:ea typeface="Nunito"/>
                <a:cs typeface="Nunito"/>
                <a:sym typeface="Nunito"/>
              </a:rPr>
              <a:t>Visual Appeal</a:t>
            </a:r>
          </a:p>
        </p:txBody>
      </p:sp>
      <p:sp>
        <p:nvSpPr>
          <p:cNvPr id="25" name="TextBox 25"/>
          <p:cNvSpPr txBox="1"/>
          <p:nvPr/>
        </p:nvSpPr>
        <p:spPr>
          <a:xfrm>
            <a:off x="3663257" y="2895480"/>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1</a:t>
            </a:r>
          </a:p>
        </p:txBody>
      </p:sp>
      <p:sp>
        <p:nvSpPr>
          <p:cNvPr id="26" name="TextBox 26"/>
          <p:cNvSpPr txBox="1"/>
          <p:nvPr/>
        </p:nvSpPr>
        <p:spPr>
          <a:xfrm>
            <a:off x="8597986" y="3091804"/>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2</a:t>
            </a:r>
          </a:p>
        </p:txBody>
      </p:sp>
      <p:sp>
        <p:nvSpPr>
          <p:cNvPr id="27" name="TextBox 27"/>
          <p:cNvSpPr txBox="1"/>
          <p:nvPr/>
        </p:nvSpPr>
        <p:spPr>
          <a:xfrm>
            <a:off x="13536293" y="3150198"/>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3</a:t>
            </a:r>
          </a:p>
        </p:txBody>
      </p:sp>
      <p:sp>
        <p:nvSpPr>
          <p:cNvPr id="28" name="Freeform 28"/>
          <p:cNvSpPr/>
          <p:nvPr/>
        </p:nvSpPr>
        <p:spPr>
          <a:xfrm>
            <a:off x="-334072" y="-1475968"/>
            <a:ext cx="3808435" cy="4114800"/>
          </a:xfrm>
          <a:custGeom>
            <a:avLst/>
            <a:gdLst/>
            <a:ahLst/>
            <a:cxnLst/>
            <a:rect l="l" t="t" r="r" b="b"/>
            <a:pathLst>
              <a:path w="3808435" h="4114800">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29" name="Group 29"/>
          <p:cNvGrpSpPr/>
          <p:nvPr/>
        </p:nvGrpSpPr>
        <p:grpSpPr>
          <a:xfrm>
            <a:off x="6981500" y="7493803"/>
            <a:ext cx="4498020" cy="1739496"/>
            <a:chOff x="0" y="0"/>
            <a:chExt cx="1184664" cy="458139"/>
          </a:xfrm>
        </p:grpSpPr>
        <p:sp>
          <p:nvSpPr>
            <p:cNvPr id="30" name="Freeform 30"/>
            <p:cNvSpPr/>
            <p:nvPr/>
          </p:nvSpPr>
          <p:spPr>
            <a:xfrm>
              <a:off x="0" y="0"/>
              <a:ext cx="1184664" cy="458139"/>
            </a:xfrm>
            <a:custGeom>
              <a:avLst/>
              <a:gdLst/>
              <a:ahLst/>
              <a:cxnLst/>
              <a:rect l="l" t="t" r="r" b="b"/>
              <a:pathLst>
                <a:path w="1184664" h="458139">
                  <a:moveTo>
                    <a:pt x="172118" y="0"/>
                  </a:moveTo>
                  <a:lnTo>
                    <a:pt x="1012545" y="0"/>
                  </a:lnTo>
                  <a:cubicBezTo>
                    <a:pt x="1107604" y="0"/>
                    <a:pt x="1184664" y="77060"/>
                    <a:pt x="1184664" y="172118"/>
                  </a:cubicBezTo>
                  <a:lnTo>
                    <a:pt x="1184664" y="286020"/>
                  </a:lnTo>
                  <a:cubicBezTo>
                    <a:pt x="1184664" y="381079"/>
                    <a:pt x="1107604" y="458139"/>
                    <a:pt x="1012545" y="458139"/>
                  </a:cubicBezTo>
                  <a:lnTo>
                    <a:pt x="172118" y="458139"/>
                  </a:lnTo>
                  <a:cubicBezTo>
                    <a:pt x="77060" y="458139"/>
                    <a:pt x="0" y="381079"/>
                    <a:pt x="0" y="286020"/>
                  </a:cubicBezTo>
                  <a:lnTo>
                    <a:pt x="0" y="172118"/>
                  </a:lnTo>
                  <a:cubicBezTo>
                    <a:pt x="0" y="77060"/>
                    <a:pt x="77060" y="0"/>
                    <a:pt x="172118" y="0"/>
                  </a:cubicBezTo>
                  <a:close/>
                </a:path>
              </a:pathLst>
            </a:custGeom>
            <a:solidFill>
              <a:srgbClr val="000000">
                <a:alpha val="0"/>
              </a:srgbClr>
            </a:solidFill>
            <a:ln w="47625" cap="rnd">
              <a:solidFill>
                <a:srgbClr val="337271"/>
              </a:solidFill>
              <a:prstDash val="lgDash"/>
              <a:round/>
            </a:ln>
          </p:spPr>
        </p:sp>
        <p:sp>
          <p:nvSpPr>
            <p:cNvPr id="31" name="TextBox 31"/>
            <p:cNvSpPr txBox="1"/>
            <p:nvPr/>
          </p:nvSpPr>
          <p:spPr>
            <a:xfrm>
              <a:off x="0" y="-38100"/>
              <a:ext cx="1184664" cy="496239"/>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2058378" y="7456315"/>
            <a:ext cx="4301786" cy="1850488"/>
            <a:chOff x="0" y="0"/>
            <a:chExt cx="1132981" cy="487371"/>
          </a:xfrm>
        </p:grpSpPr>
        <p:sp>
          <p:nvSpPr>
            <p:cNvPr id="33" name="Freeform 33"/>
            <p:cNvSpPr/>
            <p:nvPr/>
          </p:nvSpPr>
          <p:spPr>
            <a:xfrm>
              <a:off x="0" y="0"/>
              <a:ext cx="1132981" cy="487371"/>
            </a:xfrm>
            <a:custGeom>
              <a:avLst/>
              <a:gdLst/>
              <a:ahLst/>
              <a:cxnLst/>
              <a:rect l="l" t="t" r="r" b="b"/>
              <a:pathLst>
                <a:path w="1132981" h="487371">
                  <a:moveTo>
                    <a:pt x="179970" y="0"/>
                  </a:moveTo>
                  <a:lnTo>
                    <a:pt x="953011" y="0"/>
                  </a:lnTo>
                  <a:cubicBezTo>
                    <a:pt x="1000742" y="0"/>
                    <a:pt x="1046518" y="18961"/>
                    <a:pt x="1080269" y="52712"/>
                  </a:cubicBezTo>
                  <a:cubicBezTo>
                    <a:pt x="1114020" y="86463"/>
                    <a:pt x="1132981" y="132239"/>
                    <a:pt x="1132981" y="179970"/>
                  </a:cubicBezTo>
                  <a:lnTo>
                    <a:pt x="1132981" y="307401"/>
                  </a:lnTo>
                  <a:cubicBezTo>
                    <a:pt x="1132981" y="406796"/>
                    <a:pt x="1052406" y="487371"/>
                    <a:pt x="953011" y="487371"/>
                  </a:cubicBezTo>
                  <a:lnTo>
                    <a:pt x="179970" y="487371"/>
                  </a:lnTo>
                  <a:cubicBezTo>
                    <a:pt x="132239" y="487371"/>
                    <a:pt x="86463" y="468410"/>
                    <a:pt x="52712" y="434659"/>
                  </a:cubicBezTo>
                  <a:cubicBezTo>
                    <a:pt x="18961" y="400908"/>
                    <a:pt x="0" y="355132"/>
                    <a:pt x="0" y="307401"/>
                  </a:cubicBezTo>
                  <a:lnTo>
                    <a:pt x="0" y="179970"/>
                  </a:lnTo>
                  <a:cubicBezTo>
                    <a:pt x="0" y="132239"/>
                    <a:pt x="18961" y="86463"/>
                    <a:pt x="52712" y="52712"/>
                  </a:cubicBezTo>
                  <a:cubicBezTo>
                    <a:pt x="86463" y="18961"/>
                    <a:pt x="132239" y="0"/>
                    <a:pt x="179970" y="0"/>
                  </a:cubicBezTo>
                  <a:close/>
                </a:path>
              </a:pathLst>
            </a:custGeom>
            <a:solidFill>
              <a:srgbClr val="000000">
                <a:alpha val="0"/>
              </a:srgbClr>
            </a:solidFill>
            <a:ln w="47625" cap="rnd">
              <a:solidFill>
                <a:srgbClr val="337271"/>
              </a:solidFill>
              <a:prstDash val="lgDash"/>
              <a:round/>
            </a:ln>
          </p:spPr>
        </p:sp>
        <p:sp>
          <p:nvSpPr>
            <p:cNvPr id="34" name="TextBox 34"/>
            <p:cNvSpPr txBox="1"/>
            <p:nvPr/>
          </p:nvSpPr>
          <p:spPr>
            <a:xfrm>
              <a:off x="0" y="-38100"/>
              <a:ext cx="1132981" cy="525471"/>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3512678" y="6551890"/>
            <a:ext cx="1393186" cy="1125001"/>
            <a:chOff x="0" y="0"/>
            <a:chExt cx="366930" cy="296297"/>
          </a:xfrm>
        </p:grpSpPr>
        <p:sp>
          <p:nvSpPr>
            <p:cNvPr id="36" name="Freeform 36"/>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37" name="TextBox 37"/>
            <p:cNvSpPr txBox="1"/>
            <p:nvPr/>
          </p:nvSpPr>
          <p:spPr>
            <a:xfrm>
              <a:off x="0" y="-38100"/>
              <a:ext cx="366930" cy="334397"/>
            </a:xfrm>
            <a:prstGeom prst="rect">
              <a:avLst/>
            </a:prstGeom>
          </p:spPr>
          <p:txBody>
            <a:bodyPr lIns="50800" tIns="50800" rIns="50800" bIns="50800" rtlCol="0" anchor="ctr"/>
            <a:lstStyle/>
            <a:p>
              <a:pPr algn="ctr">
                <a:lnSpc>
                  <a:spcPts val="2659"/>
                </a:lnSpc>
                <a:spcBef>
                  <a:spcPct val="0"/>
                </a:spcBef>
              </a:pPr>
              <a:endParaRPr/>
            </a:p>
          </p:txBody>
        </p:sp>
      </p:grpSp>
      <p:grpSp>
        <p:nvGrpSpPr>
          <p:cNvPr id="38" name="Group 38"/>
          <p:cNvGrpSpPr/>
          <p:nvPr/>
        </p:nvGrpSpPr>
        <p:grpSpPr>
          <a:xfrm>
            <a:off x="8533917" y="6608457"/>
            <a:ext cx="1306676" cy="1125001"/>
            <a:chOff x="0" y="0"/>
            <a:chExt cx="344145" cy="296297"/>
          </a:xfrm>
        </p:grpSpPr>
        <p:sp>
          <p:nvSpPr>
            <p:cNvPr id="39" name="Freeform 39"/>
            <p:cNvSpPr/>
            <p:nvPr/>
          </p:nvSpPr>
          <p:spPr>
            <a:xfrm>
              <a:off x="0" y="0"/>
              <a:ext cx="344145" cy="296297"/>
            </a:xfrm>
            <a:custGeom>
              <a:avLst/>
              <a:gdLst/>
              <a:ahLst/>
              <a:cxnLst/>
              <a:rect l="l" t="t" r="r" b="b"/>
              <a:pathLst>
                <a:path w="344145" h="296297">
                  <a:moveTo>
                    <a:pt x="0" y="0"/>
                  </a:moveTo>
                  <a:lnTo>
                    <a:pt x="344145" y="0"/>
                  </a:lnTo>
                  <a:lnTo>
                    <a:pt x="344145" y="296297"/>
                  </a:lnTo>
                  <a:lnTo>
                    <a:pt x="0" y="296297"/>
                  </a:lnTo>
                  <a:close/>
                </a:path>
              </a:pathLst>
            </a:custGeom>
            <a:solidFill>
              <a:srgbClr val="337271"/>
            </a:solidFill>
            <a:ln cap="sq">
              <a:noFill/>
              <a:prstDash val="solid"/>
              <a:miter/>
            </a:ln>
          </p:spPr>
        </p:sp>
        <p:sp>
          <p:nvSpPr>
            <p:cNvPr id="40" name="TextBox 40"/>
            <p:cNvSpPr txBox="1"/>
            <p:nvPr/>
          </p:nvSpPr>
          <p:spPr>
            <a:xfrm>
              <a:off x="0" y="-38100"/>
              <a:ext cx="344145" cy="334397"/>
            </a:xfrm>
            <a:prstGeom prst="rect">
              <a:avLst/>
            </a:prstGeom>
          </p:spPr>
          <p:txBody>
            <a:bodyPr lIns="50800" tIns="50800" rIns="50800" bIns="50800" rtlCol="0" anchor="ctr"/>
            <a:lstStyle/>
            <a:p>
              <a:pPr algn="ctr">
                <a:lnSpc>
                  <a:spcPts val="2659"/>
                </a:lnSpc>
                <a:spcBef>
                  <a:spcPct val="0"/>
                </a:spcBef>
              </a:pPr>
              <a:endParaRPr/>
            </a:p>
          </p:txBody>
        </p:sp>
      </p:grpSp>
      <p:sp>
        <p:nvSpPr>
          <p:cNvPr id="41" name="TextBox 41"/>
          <p:cNvSpPr txBox="1"/>
          <p:nvPr/>
        </p:nvSpPr>
        <p:spPr>
          <a:xfrm>
            <a:off x="3765033" y="6592103"/>
            <a:ext cx="888476"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4</a:t>
            </a:r>
          </a:p>
        </p:txBody>
      </p:sp>
      <p:sp>
        <p:nvSpPr>
          <p:cNvPr id="42" name="TextBox 42"/>
          <p:cNvSpPr txBox="1"/>
          <p:nvPr/>
        </p:nvSpPr>
        <p:spPr>
          <a:xfrm>
            <a:off x="8597986" y="6665607"/>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5</a:t>
            </a:r>
          </a:p>
        </p:txBody>
      </p:sp>
      <p:sp>
        <p:nvSpPr>
          <p:cNvPr id="43" name="TextBox 43"/>
          <p:cNvSpPr txBox="1"/>
          <p:nvPr/>
        </p:nvSpPr>
        <p:spPr>
          <a:xfrm>
            <a:off x="7346757" y="8033492"/>
            <a:ext cx="3767506" cy="530860"/>
          </a:xfrm>
          <a:prstGeom prst="rect">
            <a:avLst/>
          </a:prstGeom>
        </p:spPr>
        <p:txBody>
          <a:bodyPr lIns="0" tIns="0" rIns="0" bIns="0" rtlCol="0" anchor="t">
            <a:spAutoFit/>
          </a:bodyPr>
          <a:lstStyle/>
          <a:p>
            <a:pPr algn="ctr">
              <a:lnSpc>
                <a:spcPts val="4339"/>
              </a:lnSpc>
            </a:pPr>
            <a:r>
              <a:rPr lang="en-US" sz="3099">
                <a:solidFill>
                  <a:srgbClr val="337271"/>
                </a:solidFill>
                <a:latin typeface="Nunito"/>
                <a:ea typeface="Nunito"/>
                <a:cs typeface="Nunito"/>
                <a:sym typeface="Nunito"/>
              </a:rPr>
              <a:t>Interactive Elements</a:t>
            </a:r>
          </a:p>
        </p:txBody>
      </p:sp>
      <p:sp>
        <p:nvSpPr>
          <p:cNvPr id="44" name="TextBox 44"/>
          <p:cNvSpPr txBox="1"/>
          <p:nvPr/>
        </p:nvSpPr>
        <p:spPr>
          <a:xfrm>
            <a:off x="2325518" y="7872410"/>
            <a:ext cx="3767506" cy="1019175"/>
          </a:xfrm>
          <a:prstGeom prst="rect">
            <a:avLst/>
          </a:prstGeom>
        </p:spPr>
        <p:txBody>
          <a:bodyPr lIns="0" tIns="0" rIns="0" bIns="0" rtlCol="0" anchor="t">
            <a:spAutoFit/>
          </a:bodyPr>
          <a:lstStyle/>
          <a:p>
            <a:pPr algn="ctr">
              <a:lnSpc>
                <a:spcPts val="4199"/>
              </a:lnSpc>
            </a:pPr>
            <a:r>
              <a:rPr lang="en-US" sz="2999">
                <a:solidFill>
                  <a:srgbClr val="337271"/>
                </a:solidFill>
                <a:latin typeface="Nunito"/>
                <a:ea typeface="Nunito"/>
                <a:cs typeface="Nunito"/>
                <a:sym typeface="Nunito"/>
              </a:rPr>
              <a:t>Dark/Light Mode Toggle</a:t>
            </a:r>
          </a:p>
        </p:txBody>
      </p:sp>
      <p:grpSp>
        <p:nvGrpSpPr>
          <p:cNvPr id="45" name="Group 45"/>
          <p:cNvGrpSpPr/>
          <p:nvPr/>
        </p:nvGrpSpPr>
        <p:grpSpPr>
          <a:xfrm>
            <a:off x="12098645" y="7456315"/>
            <a:ext cx="4325000" cy="1751889"/>
            <a:chOff x="0" y="0"/>
            <a:chExt cx="1139095" cy="461403"/>
          </a:xfrm>
        </p:grpSpPr>
        <p:sp>
          <p:nvSpPr>
            <p:cNvPr id="46" name="Freeform 46"/>
            <p:cNvSpPr/>
            <p:nvPr/>
          </p:nvSpPr>
          <p:spPr>
            <a:xfrm>
              <a:off x="0" y="0"/>
              <a:ext cx="1139095" cy="461403"/>
            </a:xfrm>
            <a:custGeom>
              <a:avLst/>
              <a:gdLst/>
              <a:ahLst/>
              <a:cxnLst/>
              <a:rect l="l" t="t" r="r" b="b"/>
              <a:pathLst>
                <a:path w="1139095" h="461403">
                  <a:moveTo>
                    <a:pt x="179004" y="0"/>
                  </a:moveTo>
                  <a:lnTo>
                    <a:pt x="960091" y="0"/>
                  </a:lnTo>
                  <a:cubicBezTo>
                    <a:pt x="1058952" y="0"/>
                    <a:pt x="1139095" y="80143"/>
                    <a:pt x="1139095" y="179004"/>
                  </a:cubicBezTo>
                  <a:lnTo>
                    <a:pt x="1139095" y="282399"/>
                  </a:lnTo>
                  <a:cubicBezTo>
                    <a:pt x="1139095" y="329874"/>
                    <a:pt x="1120235" y="375404"/>
                    <a:pt x="1086666" y="408974"/>
                  </a:cubicBezTo>
                  <a:cubicBezTo>
                    <a:pt x="1053096" y="442544"/>
                    <a:pt x="1007565" y="461403"/>
                    <a:pt x="960091" y="461403"/>
                  </a:cubicBezTo>
                  <a:lnTo>
                    <a:pt x="179004" y="461403"/>
                  </a:lnTo>
                  <a:cubicBezTo>
                    <a:pt x="131529" y="461403"/>
                    <a:pt x="85999" y="442544"/>
                    <a:pt x="52429" y="408974"/>
                  </a:cubicBezTo>
                  <a:cubicBezTo>
                    <a:pt x="18859" y="375404"/>
                    <a:pt x="0" y="329874"/>
                    <a:pt x="0" y="282399"/>
                  </a:cubicBezTo>
                  <a:lnTo>
                    <a:pt x="0" y="179004"/>
                  </a:lnTo>
                  <a:cubicBezTo>
                    <a:pt x="0" y="131529"/>
                    <a:pt x="18859" y="85999"/>
                    <a:pt x="52429" y="52429"/>
                  </a:cubicBezTo>
                  <a:cubicBezTo>
                    <a:pt x="85999" y="18859"/>
                    <a:pt x="131529" y="0"/>
                    <a:pt x="179004" y="0"/>
                  </a:cubicBezTo>
                  <a:close/>
                </a:path>
              </a:pathLst>
            </a:custGeom>
            <a:solidFill>
              <a:srgbClr val="000000">
                <a:alpha val="0"/>
              </a:srgbClr>
            </a:solidFill>
            <a:ln w="47625" cap="rnd">
              <a:solidFill>
                <a:srgbClr val="337271"/>
              </a:solidFill>
              <a:prstDash val="lgDash"/>
              <a:round/>
            </a:ln>
          </p:spPr>
        </p:sp>
        <p:sp>
          <p:nvSpPr>
            <p:cNvPr id="47" name="TextBox 47"/>
            <p:cNvSpPr txBox="1"/>
            <p:nvPr/>
          </p:nvSpPr>
          <p:spPr>
            <a:xfrm>
              <a:off x="0" y="-38100"/>
              <a:ext cx="1139095" cy="499503"/>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3379485" y="6608457"/>
            <a:ext cx="1393186" cy="1125001"/>
            <a:chOff x="0" y="0"/>
            <a:chExt cx="366930" cy="296297"/>
          </a:xfrm>
        </p:grpSpPr>
        <p:sp>
          <p:nvSpPr>
            <p:cNvPr id="49" name="Freeform 49"/>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50" name="TextBox 50"/>
            <p:cNvSpPr txBox="1"/>
            <p:nvPr/>
          </p:nvSpPr>
          <p:spPr>
            <a:xfrm>
              <a:off x="0" y="-38100"/>
              <a:ext cx="366930" cy="334397"/>
            </a:xfrm>
            <a:prstGeom prst="rect">
              <a:avLst/>
            </a:prstGeom>
          </p:spPr>
          <p:txBody>
            <a:bodyPr lIns="50800" tIns="50800" rIns="50800" bIns="50800" rtlCol="0" anchor="ctr"/>
            <a:lstStyle/>
            <a:p>
              <a:pPr algn="ctr">
                <a:lnSpc>
                  <a:spcPts val="2659"/>
                </a:lnSpc>
                <a:spcBef>
                  <a:spcPct val="0"/>
                </a:spcBef>
              </a:pPr>
              <a:endParaRPr/>
            </a:p>
          </p:txBody>
        </p:sp>
      </p:grpSp>
      <p:sp>
        <p:nvSpPr>
          <p:cNvPr id="51" name="TextBox 51"/>
          <p:cNvSpPr txBox="1"/>
          <p:nvPr/>
        </p:nvSpPr>
        <p:spPr>
          <a:xfrm>
            <a:off x="13555970" y="6665607"/>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6</a:t>
            </a:r>
          </a:p>
        </p:txBody>
      </p:sp>
      <p:sp>
        <p:nvSpPr>
          <p:cNvPr id="52" name="TextBox 52"/>
          <p:cNvSpPr txBox="1"/>
          <p:nvPr/>
        </p:nvSpPr>
        <p:spPr>
          <a:xfrm>
            <a:off x="12470120" y="8165592"/>
            <a:ext cx="3767506" cy="495300"/>
          </a:xfrm>
          <a:prstGeom prst="rect">
            <a:avLst/>
          </a:prstGeom>
        </p:spPr>
        <p:txBody>
          <a:bodyPr lIns="0" tIns="0" rIns="0" bIns="0" rtlCol="0" anchor="t">
            <a:spAutoFit/>
          </a:bodyPr>
          <a:lstStyle/>
          <a:p>
            <a:pPr algn="ctr">
              <a:lnSpc>
                <a:spcPts val="4199"/>
              </a:lnSpc>
            </a:pPr>
            <a:r>
              <a:rPr lang="en-US" sz="2999">
                <a:solidFill>
                  <a:srgbClr val="337271"/>
                </a:solidFill>
                <a:latin typeface="Nunito"/>
                <a:ea typeface="Nunito"/>
                <a:cs typeface="Nunito"/>
                <a:sym typeface="Nunito"/>
              </a:rPr>
              <a:t>Local Market Focus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2461461" y="-1638300"/>
            <a:ext cx="6257264" cy="3629213"/>
          </a:xfrm>
          <a:custGeom>
            <a:avLst/>
            <a:gdLst/>
            <a:ahLst/>
            <a:cxnLst/>
            <a:rect l="l" t="t" r="r" b="b"/>
            <a:pathLst>
              <a:path w="6257264" h="3629213">
                <a:moveTo>
                  <a:pt x="0" y="0"/>
                </a:moveTo>
                <a:lnTo>
                  <a:pt x="6257265" y="0"/>
                </a:lnTo>
                <a:lnTo>
                  <a:pt x="6257265" y="3629213"/>
                </a:lnTo>
                <a:lnTo>
                  <a:pt x="0" y="362921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Freeform 4"/>
          <p:cNvSpPr/>
          <p:nvPr/>
        </p:nvSpPr>
        <p:spPr>
          <a:xfrm>
            <a:off x="16371930" y="6936409"/>
            <a:ext cx="2977619" cy="4114800"/>
          </a:xfrm>
          <a:custGeom>
            <a:avLst/>
            <a:gdLst/>
            <a:ahLst/>
            <a:cxnLst/>
            <a:rect l="l" t="t" r="r" b="b"/>
            <a:pathLst>
              <a:path w="2977619" h="4114800">
                <a:moveTo>
                  <a:pt x="0" y="0"/>
                </a:moveTo>
                <a:lnTo>
                  <a:pt x="2977619" y="0"/>
                </a:lnTo>
                <a:lnTo>
                  <a:pt x="2977619" y="4114800"/>
                </a:lnTo>
                <a:lnTo>
                  <a:pt x="0" y="41148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Freeform 5"/>
          <p:cNvSpPr/>
          <p:nvPr/>
        </p:nvSpPr>
        <p:spPr>
          <a:xfrm>
            <a:off x="667172" y="2200019"/>
            <a:ext cx="16389600" cy="7058281"/>
          </a:xfrm>
          <a:custGeom>
            <a:avLst/>
            <a:gdLst/>
            <a:ahLst/>
            <a:cxnLst/>
            <a:rect l="l" t="t" r="r" b="b"/>
            <a:pathLst>
              <a:path w="16389600" h="7058281">
                <a:moveTo>
                  <a:pt x="0" y="0"/>
                </a:moveTo>
                <a:lnTo>
                  <a:pt x="16389599" y="0"/>
                </a:lnTo>
                <a:lnTo>
                  <a:pt x="16389599" y="7058281"/>
                </a:lnTo>
                <a:lnTo>
                  <a:pt x="0" y="7058281"/>
                </a:lnTo>
                <a:lnTo>
                  <a:pt x="0" y="0"/>
                </a:lnTo>
                <a:close/>
              </a:path>
            </a:pathLst>
          </a:custGeom>
          <a:blipFill>
            <a:blip r:embed="rId7"/>
            <a:stretch>
              <a:fillRect l="-516" r="-516"/>
            </a:stretch>
          </a:blipFill>
        </p:spPr>
      </p:sp>
      <p:sp>
        <p:nvSpPr>
          <p:cNvPr id="6" name="TextBox 6"/>
          <p:cNvSpPr txBox="1"/>
          <p:nvPr/>
        </p:nvSpPr>
        <p:spPr>
          <a:xfrm>
            <a:off x="6234326" y="385093"/>
            <a:ext cx="5819348" cy="1628773"/>
          </a:xfrm>
          <a:prstGeom prst="rect">
            <a:avLst/>
          </a:prstGeom>
        </p:spPr>
        <p:txBody>
          <a:bodyPr lIns="0" tIns="0" rIns="0" bIns="0" rtlCol="0" anchor="t">
            <a:spAutoFit/>
          </a:bodyPr>
          <a:lstStyle/>
          <a:p>
            <a:pPr algn="ctr">
              <a:lnSpc>
                <a:spcPts val="12600"/>
              </a:lnSpc>
            </a:pPr>
            <a:r>
              <a:rPr lang="en-US" sz="9000">
                <a:solidFill>
                  <a:srgbClr val="337271"/>
                </a:solidFill>
                <a:latin typeface="AC Diary Girl"/>
                <a:ea typeface="AC Diary Girl"/>
                <a:cs typeface="AC Diary Girl"/>
                <a:sym typeface="AC Diary Girl"/>
              </a:rPr>
              <a:t>Demo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TextBox 3"/>
          <p:cNvSpPr txBox="1"/>
          <p:nvPr/>
        </p:nvSpPr>
        <p:spPr>
          <a:xfrm>
            <a:off x="3892385" y="1594997"/>
            <a:ext cx="10503230" cy="1628773"/>
          </a:xfrm>
          <a:prstGeom prst="rect">
            <a:avLst/>
          </a:prstGeom>
        </p:spPr>
        <p:txBody>
          <a:bodyPr lIns="0" tIns="0" rIns="0" bIns="0" rtlCol="0" anchor="t">
            <a:spAutoFit/>
          </a:bodyPr>
          <a:lstStyle/>
          <a:p>
            <a:pPr algn="ctr">
              <a:lnSpc>
                <a:spcPts val="12600"/>
              </a:lnSpc>
            </a:pPr>
            <a:r>
              <a:rPr lang="en-US" sz="9000">
                <a:solidFill>
                  <a:srgbClr val="337271"/>
                </a:solidFill>
                <a:latin typeface="AC Diary Girl"/>
                <a:ea typeface="AC Diary Girl"/>
                <a:cs typeface="AC Diary Girl"/>
                <a:sym typeface="AC Diary Girl"/>
              </a:rPr>
              <a:t>Challenge Faced</a:t>
            </a:r>
          </a:p>
        </p:txBody>
      </p:sp>
      <p:sp>
        <p:nvSpPr>
          <p:cNvPr id="4" name="TextBox 4"/>
          <p:cNvSpPr txBox="1"/>
          <p:nvPr/>
        </p:nvSpPr>
        <p:spPr>
          <a:xfrm>
            <a:off x="1028700" y="4046195"/>
            <a:ext cx="15757462" cy="4651351"/>
          </a:xfrm>
          <a:prstGeom prst="rect">
            <a:avLst/>
          </a:prstGeom>
        </p:spPr>
        <p:txBody>
          <a:bodyPr lIns="0" tIns="0" rIns="0" bIns="0" rtlCol="0" anchor="t">
            <a:spAutoFit/>
          </a:bodyPr>
          <a:lstStyle/>
          <a:p>
            <a:pPr marL="824041" lvl="1" indent="-412021" algn="just">
              <a:lnSpc>
                <a:spcPts val="5305"/>
              </a:lnSpc>
              <a:buFont typeface="Arial"/>
              <a:buChar char="•"/>
            </a:pPr>
            <a:r>
              <a:rPr lang="en-US" sz="3816">
                <a:solidFill>
                  <a:srgbClr val="337271"/>
                </a:solidFill>
                <a:latin typeface="Nunito"/>
                <a:ea typeface="Nunito"/>
                <a:cs typeface="Nunito"/>
                <a:sym typeface="Nunito"/>
              </a:rPr>
              <a:t>Collecting accurate and up-to-date information about local markets was time-consuming.</a:t>
            </a:r>
          </a:p>
          <a:p>
            <a:pPr marL="824041" lvl="1" indent="-412021" algn="just">
              <a:lnSpc>
                <a:spcPts val="5305"/>
              </a:lnSpc>
              <a:buFont typeface="Arial"/>
              <a:buChar char="•"/>
            </a:pPr>
            <a:r>
              <a:rPr lang="en-US" sz="3816">
                <a:solidFill>
                  <a:srgbClr val="337271"/>
                </a:solidFill>
                <a:latin typeface="Nunito"/>
                <a:ea typeface="Nunito"/>
                <a:cs typeface="Nunito"/>
                <a:sym typeface="Nunito"/>
              </a:rPr>
              <a:t>Designing a website that is both visually appealing and user-friendly without using JavaScript.</a:t>
            </a:r>
          </a:p>
          <a:p>
            <a:pPr marL="824041" lvl="1" indent="-412021" algn="just">
              <a:lnSpc>
                <a:spcPts val="5305"/>
              </a:lnSpc>
              <a:buFont typeface="Arial"/>
              <a:buChar char="•"/>
            </a:pPr>
            <a:r>
              <a:rPr lang="en-US" sz="3816">
                <a:solidFill>
                  <a:srgbClr val="337271"/>
                </a:solidFill>
                <a:latin typeface="Nunito"/>
                <a:ea typeface="Nunito"/>
                <a:cs typeface="Nunito"/>
                <a:sym typeface="Nunito"/>
              </a:rPr>
              <a:t>Ensuring compatibility across different devices and screen sizes.</a:t>
            </a:r>
          </a:p>
          <a:p>
            <a:pPr marL="824041" lvl="1" indent="-412021" algn="just">
              <a:lnSpc>
                <a:spcPts val="5305"/>
              </a:lnSpc>
              <a:buFont typeface="Arial"/>
              <a:buChar char="•"/>
            </a:pPr>
            <a:r>
              <a:rPr lang="en-US" sz="3816">
                <a:solidFill>
                  <a:srgbClr val="337271"/>
                </a:solidFill>
                <a:latin typeface="Nunito"/>
                <a:ea typeface="Nunito"/>
                <a:cs typeface="Nunito"/>
                <a:sym typeface="Nunito"/>
              </a:rPr>
              <a:t>Managing and organizing large amounts of data for local products and offers.</a:t>
            </a:r>
          </a:p>
        </p:txBody>
      </p:sp>
      <p:sp>
        <p:nvSpPr>
          <p:cNvPr id="5" name="Freeform 5"/>
          <p:cNvSpPr/>
          <p:nvPr/>
        </p:nvSpPr>
        <p:spPr>
          <a:xfrm flipH="1">
            <a:off x="15229923" y="8035155"/>
            <a:ext cx="3551363" cy="1646945"/>
          </a:xfrm>
          <a:custGeom>
            <a:avLst/>
            <a:gdLst/>
            <a:ahLst/>
            <a:cxnLst/>
            <a:rect l="l" t="t" r="r" b="b"/>
            <a:pathLst>
              <a:path w="3551363" h="1646945">
                <a:moveTo>
                  <a:pt x="3551363" y="0"/>
                </a:moveTo>
                <a:lnTo>
                  <a:pt x="0" y="0"/>
                </a:lnTo>
                <a:lnTo>
                  <a:pt x="0" y="1646944"/>
                </a:lnTo>
                <a:lnTo>
                  <a:pt x="3551363" y="1646944"/>
                </a:lnTo>
                <a:lnTo>
                  <a:pt x="3551363"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Freeform 6"/>
          <p:cNvSpPr/>
          <p:nvPr/>
        </p:nvSpPr>
        <p:spPr>
          <a:xfrm>
            <a:off x="-516918" y="1028700"/>
            <a:ext cx="3551363" cy="1646945"/>
          </a:xfrm>
          <a:custGeom>
            <a:avLst/>
            <a:gdLst/>
            <a:ahLst/>
            <a:cxnLst/>
            <a:rect l="l" t="t" r="r" b="b"/>
            <a:pathLst>
              <a:path w="3551363" h="1646945">
                <a:moveTo>
                  <a:pt x="0" y="0"/>
                </a:moveTo>
                <a:lnTo>
                  <a:pt x="3551363" y="0"/>
                </a:lnTo>
                <a:lnTo>
                  <a:pt x="3551363" y="1646945"/>
                </a:lnTo>
                <a:lnTo>
                  <a:pt x="0" y="164694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a:off x="2653047" y="2802883"/>
            <a:ext cx="13352438" cy="1140586"/>
            <a:chOff x="0" y="0"/>
            <a:chExt cx="3516691" cy="300401"/>
          </a:xfrm>
        </p:grpSpPr>
        <p:sp>
          <p:nvSpPr>
            <p:cNvPr id="4" name="Freeform 4"/>
            <p:cNvSpPr/>
            <p:nvPr/>
          </p:nvSpPr>
          <p:spPr>
            <a:xfrm>
              <a:off x="0" y="0"/>
              <a:ext cx="3516692" cy="300401"/>
            </a:xfrm>
            <a:custGeom>
              <a:avLst/>
              <a:gdLst/>
              <a:ahLst/>
              <a:cxnLst/>
              <a:rect l="l" t="t" r="r" b="b"/>
              <a:pathLst>
                <a:path w="3516692" h="300401">
                  <a:moveTo>
                    <a:pt x="0" y="0"/>
                  </a:moveTo>
                  <a:lnTo>
                    <a:pt x="3516692" y="0"/>
                  </a:lnTo>
                  <a:lnTo>
                    <a:pt x="3516692" y="300401"/>
                  </a:lnTo>
                  <a:lnTo>
                    <a:pt x="0" y="300401"/>
                  </a:lnTo>
                  <a:close/>
                </a:path>
              </a:pathLst>
            </a:custGeom>
            <a:solidFill>
              <a:srgbClr val="000000">
                <a:alpha val="0"/>
              </a:srgbClr>
            </a:solidFill>
            <a:ln w="38100" cap="sq">
              <a:solidFill>
                <a:srgbClr val="337271"/>
              </a:solidFill>
              <a:prstDash val="solid"/>
              <a:miter/>
            </a:ln>
          </p:spPr>
        </p:sp>
        <p:sp>
          <p:nvSpPr>
            <p:cNvPr id="5" name="TextBox 5"/>
            <p:cNvSpPr txBox="1"/>
            <p:nvPr/>
          </p:nvSpPr>
          <p:spPr>
            <a:xfrm>
              <a:off x="0" y="-38100"/>
              <a:ext cx="3516691" cy="338501"/>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653047" y="4391145"/>
            <a:ext cx="13352438" cy="1307513"/>
            <a:chOff x="0" y="0"/>
            <a:chExt cx="3516691" cy="344366"/>
          </a:xfrm>
        </p:grpSpPr>
        <p:sp>
          <p:nvSpPr>
            <p:cNvPr id="7" name="Freeform 7"/>
            <p:cNvSpPr/>
            <p:nvPr/>
          </p:nvSpPr>
          <p:spPr>
            <a:xfrm>
              <a:off x="0" y="0"/>
              <a:ext cx="3516692" cy="344366"/>
            </a:xfrm>
            <a:custGeom>
              <a:avLst/>
              <a:gdLst/>
              <a:ahLst/>
              <a:cxnLst/>
              <a:rect l="l" t="t" r="r" b="b"/>
              <a:pathLst>
                <a:path w="3516692" h="344366">
                  <a:moveTo>
                    <a:pt x="0" y="0"/>
                  </a:moveTo>
                  <a:lnTo>
                    <a:pt x="3516692" y="0"/>
                  </a:lnTo>
                  <a:lnTo>
                    <a:pt x="3516692" y="344366"/>
                  </a:lnTo>
                  <a:lnTo>
                    <a:pt x="0" y="344366"/>
                  </a:lnTo>
                  <a:close/>
                </a:path>
              </a:pathLst>
            </a:custGeom>
            <a:solidFill>
              <a:srgbClr val="000000">
                <a:alpha val="0"/>
              </a:srgbClr>
            </a:solidFill>
            <a:ln w="38100" cap="sq">
              <a:solidFill>
                <a:srgbClr val="337271"/>
              </a:solidFill>
              <a:prstDash val="solid"/>
              <a:miter/>
            </a:ln>
          </p:spPr>
        </p:sp>
        <p:sp>
          <p:nvSpPr>
            <p:cNvPr id="8" name="TextBox 8"/>
            <p:cNvSpPr txBox="1"/>
            <p:nvPr/>
          </p:nvSpPr>
          <p:spPr>
            <a:xfrm>
              <a:off x="0" y="-38100"/>
              <a:ext cx="3516691" cy="382466"/>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2653047" y="6098708"/>
            <a:ext cx="13352438" cy="1172552"/>
            <a:chOff x="0" y="0"/>
            <a:chExt cx="3516691" cy="308820"/>
          </a:xfrm>
        </p:grpSpPr>
        <p:sp>
          <p:nvSpPr>
            <p:cNvPr id="10" name="Freeform 10"/>
            <p:cNvSpPr/>
            <p:nvPr/>
          </p:nvSpPr>
          <p:spPr>
            <a:xfrm>
              <a:off x="0" y="0"/>
              <a:ext cx="3516692" cy="308820"/>
            </a:xfrm>
            <a:custGeom>
              <a:avLst/>
              <a:gdLst/>
              <a:ahLst/>
              <a:cxnLst/>
              <a:rect l="l" t="t" r="r" b="b"/>
              <a:pathLst>
                <a:path w="3516692" h="308820">
                  <a:moveTo>
                    <a:pt x="0" y="0"/>
                  </a:moveTo>
                  <a:lnTo>
                    <a:pt x="3516692" y="0"/>
                  </a:lnTo>
                  <a:lnTo>
                    <a:pt x="3516692" y="308820"/>
                  </a:lnTo>
                  <a:lnTo>
                    <a:pt x="0" y="308820"/>
                  </a:lnTo>
                  <a:close/>
                </a:path>
              </a:pathLst>
            </a:custGeom>
            <a:solidFill>
              <a:srgbClr val="000000">
                <a:alpha val="0"/>
              </a:srgbClr>
            </a:solidFill>
            <a:ln w="38100" cap="sq">
              <a:solidFill>
                <a:srgbClr val="337271"/>
              </a:solidFill>
              <a:prstDash val="solid"/>
              <a:miter/>
            </a:ln>
          </p:spPr>
        </p:sp>
        <p:sp>
          <p:nvSpPr>
            <p:cNvPr id="11" name="TextBox 11"/>
            <p:cNvSpPr txBox="1"/>
            <p:nvPr/>
          </p:nvSpPr>
          <p:spPr>
            <a:xfrm>
              <a:off x="0" y="-38100"/>
              <a:ext cx="3516691" cy="34692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019917" y="678810"/>
            <a:ext cx="10708294" cy="1628773"/>
          </a:xfrm>
          <a:prstGeom prst="rect">
            <a:avLst/>
          </a:prstGeom>
        </p:spPr>
        <p:txBody>
          <a:bodyPr lIns="0" tIns="0" rIns="0" bIns="0" rtlCol="0" anchor="t">
            <a:spAutoFit/>
          </a:bodyPr>
          <a:lstStyle/>
          <a:p>
            <a:pPr algn="ctr">
              <a:lnSpc>
                <a:spcPts val="12600"/>
              </a:lnSpc>
            </a:pPr>
            <a:r>
              <a:rPr lang="en-US" sz="9000">
                <a:solidFill>
                  <a:srgbClr val="337271"/>
                </a:solidFill>
                <a:latin typeface="AC Diary Girl"/>
                <a:ea typeface="AC Diary Girl"/>
                <a:cs typeface="AC Diary Girl"/>
                <a:sym typeface="AC Diary Girl"/>
              </a:rPr>
              <a:t>What We Learned</a:t>
            </a:r>
          </a:p>
        </p:txBody>
      </p:sp>
      <p:sp>
        <p:nvSpPr>
          <p:cNvPr id="13" name="TextBox 13"/>
          <p:cNvSpPr txBox="1"/>
          <p:nvPr/>
        </p:nvSpPr>
        <p:spPr>
          <a:xfrm>
            <a:off x="2968766" y="3074616"/>
            <a:ext cx="12721001" cy="587375"/>
          </a:xfrm>
          <a:prstGeom prst="rect">
            <a:avLst/>
          </a:prstGeom>
        </p:spPr>
        <p:txBody>
          <a:bodyPr lIns="0" tIns="0" rIns="0" bIns="0" rtlCol="0" anchor="t">
            <a:spAutoFit/>
          </a:bodyPr>
          <a:lstStyle/>
          <a:p>
            <a:pPr algn="ctr">
              <a:lnSpc>
                <a:spcPts val="4899"/>
              </a:lnSpc>
            </a:pPr>
            <a:r>
              <a:rPr lang="en-US" sz="3499">
                <a:solidFill>
                  <a:srgbClr val="337271"/>
                </a:solidFill>
                <a:latin typeface="Nunito"/>
                <a:ea typeface="Nunito"/>
                <a:cs typeface="Nunito"/>
                <a:sym typeface="Nunito"/>
              </a:rPr>
              <a:t>Improved skills in HTML and CSS for responsive web design</a:t>
            </a:r>
          </a:p>
        </p:txBody>
      </p:sp>
      <p:sp>
        <p:nvSpPr>
          <p:cNvPr id="14" name="TextBox 14"/>
          <p:cNvSpPr txBox="1"/>
          <p:nvPr/>
        </p:nvSpPr>
        <p:spPr>
          <a:xfrm>
            <a:off x="3013563" y="4821237"/>
            <a:ext cx="12721001" cy="587375"/>
          </a:xfrm>
          <a:prstGeom prst="rect">
            <a:avLst/>
          </a:prstGeom>
        </p:spPr>
        <p:txBody>
          <a:bodyPr lIns="0" tIns="0" rIns="0" bIns="0" rtlCol="0" anchor="t">
            <a:spAutoFit/>
          </a:bodyPr>
          <a:lstStyle/>
          <a:p>
            <a:pPr algn="ctr">
              <a:lnSpc>
                <a:spcPts val="4899"/>
              </a:lnSpc>
            </a:pPr>
            <a:r>
              <a:rPr lang="en-US" sz="3499">
                <a:solidFill>
                  <a:srgbClr val="337271"/>
                </a:solidFill>
                <a:latin typeface="Nunito"/>
                <a:ea typeface="Nunito"/>
                <a:cs typeface="Nunito"/>
                <a:sym typeface="Nunito"/>
              </a:rPr>
              <a:t>Learned how to implement light/dark mode using only CSS.</a:t>
            </a:r>
          </a:p>
        </p:txBody>
      </p:sp>
      <p:sp>
        <p:nvSpPr>
          <p:cNvPr id="15" name="TextBox 15"/>
          <p:cNvSpPr txBox="1"/>
          <p:nvPr/>
        </p:nvSpPr>
        <p:spPr>
          <a:xfrm>
            <a:off x="2968766" y="6362721"/>
            <a:ext cx="12721001" cy="587375"/>
          </a:xfrm>
          <a:prstGeom prst="rect">
            <a:avLst/>
          </a:prstGeom>
        </p:spPr>
        <p:txBody>
          <a:bodyPr lIns="0" tIns="0" rIns="0" bIns="0" rtlCol="0" anchor="t">
            <a:spAutoFit/>
          </a:bodyPr>
          <a:lstStyle/>
          <a:p>
            <a:pPr algn="ctr">
              <a:lnSpc>
                <a:spcPts val="4899"/>
              </a:lnSpc>
            </a:pPr>
            <a:r>
              <a:rPr lang="en-US" sz="3499">
                <a:solidFill>
                  <a:srgbClr val="337271"/>
                </a:solidFill>
                <a:latin typeface="Nunito"/>
                <a:ea typeface="Nunito"/>
                <a:cs typeface="Nunito"/>
                <a:sym typeface="Nunito"/>
              </a:rPr>
              <a:t>Gained experience in designing user-centric interfaces.</a:t>
            </a:r>
          </a:p>
        </p:txBody>
      </p:sp>
      <p:sp>
        <p:nvSpPr>
          <p:cNvPr id="16" name="Freeform 16"/>
          <p:cNvSpPr/>
          <p:nvPr/>
        </p:nvSpPr>
        <p:spPr>
          <a:xfrm>
            <a:off x="-334072" y="-1475968"/>
            <a:ext cx="3808435" cy="4114800"/>
          </a:xfrm>
          <a:custGeom>
            <a:avLst/>
            <a:gdLst/>
            <a:ahLst/>
            <a:cxnLst/>
            <a:rect l="l" t="t" r="r" b="b"/>
            <a:pathLst>
              <a:path w="3808435" h="4114800">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7" name="Freeform 17"/>
          <p:cNvSpPr/>
          <p:nvPr/>
        </p:nvSpPr>
        <p:spPr>
          <a:xfrm>
            <a:off x="14091011" y="8550742"/>
            <a:ext cx="4196989" cy="770720"/>
          </a:xfrm>
          <a:custGeom>
            <a:avLst/>
            <a:gdLst/>
            <a:ahLst/>
            <a:cxnLst/>
            <a:rect l="l" t="t" r="r" b="b"/>
            <a:pathLst>
              <a:path w="4196989" h="770720">
                <a:moveTo>
                  <a:pt x="0" y="0"/>
                </a:moveTo>
                <a:lnTo>
                  <a:pt x="4196989" y="0"/>
                </a:lnTo>
                <a:lnTo>
                  <a:pt x="4196989" y="770720"/>
                </a:lnTo>
                <a:lnTo>
                  <a:pt x="0" y="77072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8" name="Group 18"/>
          <p:cNvGrpSpPr/>
          <p:nvPr/>
        </p:nvGrpSpPr>
        <p:grpSpPr>
          <a:xfrm>
            <a:off x="2653047" y="7766560"/>
            <a:ext cx="13352438" cy="1554902"/>
            <a:chOff x="0" y="0"/>
            <a:chExt cx="3516691" cy="409522"/>
          </a:xfrm>
        </p:grpSpPr>
        <p:sp>
          <p:nvSpPr>
            <p:cNvPr id="19" name="Freeform 19"/>
            <p:cNvSpPr/>
            <p:nvPr/>
          </p:nvSpPr>
          <p:spPr>
            <a:xfrm>
              <a:off x="0" y="0"/>
              <a:ext cx="3516692" cy="409522"/>
            </a:xfrm>
            <a:custGeom>
              <a:avLst/>
              <a:gdLst/>
              <a:ahLst/>
              <a:cxnLst/>
              <a:rect l="l" t="t" r="r" b="b"/>
              <a:pathLst>
                <a:path w="3516692" h="409522">
                  <a:moveTo>
                    <a:pt x="0" y="0"/>
                  </a:moveTo>
                  <a:lnTo>
                    <a:pt x="3516692" y="0"/>
                  </a:lnTo>
                  <a:lnTo>
                    <a:pt x="3516692" y="409522"/>
                  </a:lnTo>
                  <a:lnTo>
                    <a:pt x="0" y="409522"/>
                  </a:lnTo>
                  <a:close/>
                </a:path>
              </a:pathLst>
            </a:custGeom>
            <a:solidFill>
              <a:srgbClr val="000000">
                <a:alpha val="0"/>
              </a:srgbClr>
            </a:solidFill>
            <a:ln w="38100" cap="sq">
              <a:solidFill>
                <a:srgbClr val="337271"/>
              </a:solidFill>
              <a:prstDash val="solid"/>
              <a:miter/>
            </a:ln>
          </p:spPr>
        </p:sp>
        <p:sp>
          <p:nvSpPr>
            <p:cNvPr id="20" name="TextBox 20"/>
            <p:cNvSpPr txBox="1"/>
            <p:nvPr/>
          </p:nvSpPr>
          <p:spPr>
            <a:xfrm>
              <a:off x="0" y="-38100"/>
              <a:ext cx="3516691" cy="447622"/>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3013563" y="7947535"/>
            <a:ext cx="12721001" cy="1206500"/>
          </a:xfrm>
          <a:prstGeom prst="rect">
            <a:avLst/>
          </a:prstGeom>
        </p:spPr>
        <p:txBody>
          <a:bodyPr lIns="0" tIns="0" rIns="0" bIns="0" rtlCol="0" anchor="t">
            <a:spAutoFit/>
          </a:bodyPr>
          <a:lstStyle/>
          <a:p>
            <a:pPr algn="ctr">
              <a:lnSpc>
                <a:spcPts val="4899"/>
              </a:lnSpc>
            </a:pPr>
            <a:r>
              <a:rPr lang="en-US" sz="3499">
                <a:solidFill>
                  <a:srgbClr val="337271"/>
                </a:solidFill>
                <a:latin typeface="Nunito"/>
                <a:ea typeface="Nunito"/>
                <a:cs typeface="Nunito"/>
                <a:sym typeface="Nunito"/>
              </a:rPr>
              <a:t>Understood the importance of local market research and real-time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TextBox 3"/>
          <p:cNvSpPr txBox="1"/>
          <p:nvPr/>
        </p:nvSpPr>
        <p:spPr>
          <a:xfrm>
            <a:off x="1501838" y="4886667"/>
            <a:ext cx="15757462" cy="3267919"/>
          </a:xfrm>
          <a:prstGeom prst="rect">
            <a:avLst/>
          </a:prstGeom>
        </p:spPr>
        <p:txBody>
          <a:bodyPr lIns="0" tIns="0" rIns="0" bIns="0" rtlCol="0" anchor="t">
            <a:spAutoFit/>
          </a:bodyPr>
          <a:lstStyle/>
          <a:p>
            <a:pPr algn="ctr">
              <a:lnSpc>
                <a:spcPts val="5203"/>
              </a:lnSpc>
            </a:pPr>
            <a:r>
              <a:rPr lang="en-US" sz="3716">
                <a:solidFill>
                  <a:srgbClr val="337271"/>
                </a:solidFill>
                <a:latin typeface="Nunito"/>
                <a:ea typeface="Nunito"/>
                <a:cs typeface="Nunito"/>
                <a:sym typeface="Nunito"/>
              </a:rPr>
              <a:t>Our project demonstrates how a simple website can help people find quality products at affordable prices in their local markets. Through this work, we learned practical web design skills, problem-solving, and the importance of making information accessible to everyone. Overall, it was a valuable experience that combined technology with real-world impact.</a:t>
            </a:r>
          </a:p>
        </p:txBody>
      </p:sp>
      <p:sp>
        <p:nvSpPr>
          <p:cNvPr id="4" name="Freeform 4"/>
          <p:cNvSpPr/>
          <p:nvPr/>
        </p:nvSpPr>
        <p:spPr>
          <a:xfrm flipH="1">
            <a:off x="15229923" y="8035155"/>
            <a:ext cx="3551363" cy="1646945"/>
          </a:xfrm>
          <a:custGeom>
            <a:avLst/>
            <a:gdLst/>
            <a:ahLst/>
            <a:cxnLst/>
            <a:rect l="l" t="t" r="r" b="b"/>
            <a:pathLst>
              <a:path w="3551363" h="1646945">
                <a:moveTo>
                  <a:pt x="3551363" y="0"/>
                </a:moveTo>
                <a:lnTo>
                  <a:pt x="0" y="0"/>
                </a:lnTo>
                <a:lnTo>
                  <a:pt x="0" y="1646944"/>
                </a:lnTo>
                <a:lnTo>
                  <a:pt x="3551363" y="1646944"/>
                </a:lnTo>
                <a:lnTo>
                  <a:pt x="3551363"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a:off x="-516918" y="1028700"/>
            <a:ext cx="3551363" cy="1646945"/>
          </a:xfrm>
          <a:custGeom>
            <a:avLst/>
            <a:gdLst/>
            <a:ahLst/>
            <a:cxnLst/>
            <a:rect l="l" t="t" r="r" b="b"/>
            <a:pathLst>
              <a:path w="3551363" h="1646945">
                <a:moveTo>
                  <a:pt x="0" y="0"/>
                </a:moveTo>
                <a:lnTo>
                  <a:pt x="3551363" y="0"/>
                </a:lnTo>
                <a:lnTo>
                  <a:pt x="3551363" y="1646945"/>
                </a:lnTo>
                <a:lnTo>
                  <a:pt x="0" y="164694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Freeform 6"/>
          <p:cNvSpPr/>
          <p:nvPr/>
        </p:nvSpPr>
        <p:spPr>
          <a:xfrm>
            <a:off x="13277332" y="-1258523"/>
            <a:ext cx="6221390" cy="6221390"/>
          </a:xfrm>
          <a:custGeom>
            <a:avLst/>
            <a:gdLst/>
            <a:ahLst/>
            <a:cxnLst/>
            <a:rect l="l" t="t" r="r" b="b"/>
            <a:pathLst>
              <a:path w="6221390" h="6221390">
                <a:moveTo>
                  <a:pt x="0" y="0"/>
                </a:moveTo>
                <a:lnTo>
                  <a:pt x="6221390" y="0"/>
                </a:lnTo>
                <a:lnTo>
                  <a:pt x="6221390" y="6221390"/>
                </a:lnTo>
                <a:lnTo>
                  <a:pt x="0" y="6221390"/>
                </a:lnTo>
                <a:lnTo>
                  <a:pt x="0" y="0"/>
                </a:lnTo>
                <a:close/>
              </a:path>
            </a:pathLst>
          </a:custGeom>
          <a:blipFill>
            <a:blip r:embed="rId5"/>
            <a:stretch>
              <a:fillRect/>
            </a:stretch>
          </a:blipFill>
        </p:spPr>
      </p:sp>
      <p:sp>
        <p:nvSpPr>
          <p:cNvPr id="7" name="TextBox 7"/>
          <p:cNvSpPr txBox="1"/>
          <p:nvPr/>
        </p:nvSpPr>
        <p:spPr>
          <a:xfrm>
            <a:off x="4261765" y="2812864"/>
            <a:ext cx="9291332" cy="1722743"/>
          </a:xfrm>
          <a:prstGeom prst="rect">
            <a:avLst/>
          </a:prstGeom>
        </p:spPr>
        <p:txBody>
          <a:bodyPr lIns="0" tIns="0" rIns="0" bIns="0" rtlCol="0" anchor="t">
            <a:spAutoFit/>
          </a:bodyPr>
          <a:lstStyle/>
          <a:p>
            <a:pPr algn="ctr">
              <a:lnSpc>
                <a:spcPts val="13463"/>
              </a:lnSpc>
            </a:pPr>
            <a:r>
              <a:rPr lang="en-US" sz="9616">
                <a:solidFill>
                  <a:srgbClr val="337271"/>
                </a:solidFill>
                <a:latin typeface="AC Diary Girl"/>
                <a:ea typeface="AC Diary Girl"/>
                <a:cs typeface="AC Diary Girl"/>
                <a:sym typeface="AC Diary Girl"/>
              </a:rPr>
              <a:t>Conclusion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TextBox 3"/>
          <p:cNvSpPr txBox="1"/>
          <p:nvPr/>
        </p:nvSpPr>
        <p:spPr>
          <a:xfrm>
            <a:off x="4796206" y="4200526"/>
            <a:ext cx="8695587" cy="1628773"/>
          </a:xfrm>
          <a:prstGeom prst="rect">
            <a:avLst/>
          </a:prstGeom>
        </p:spPr>
        <p:txBody>
          <a:bodyPr lIns="0" tIns="0" rIns="0" bIns="0" rtlCol="0" anchor="t">
            <a:spAutoFit/>
          </a:bodyPr>
          <a:lstStyle/>
          <a:p>
            <a:pPr algn="ctr">
              <a:lnSpc>
                <a:spcPts val="12600"/>
              </a:lnSpc>
            </a:pPr>
            <a:r>
              <a:rPr lang="en-US" sz="9000">
                <a:solidFill>
                  <a:srgbClr val="337271"/>
                </a:solidFill>
                <a:latin typeface="AC Diary Girl"/>
                <a:ea typeface="AC Diary Girl"/>
                <a:cs typeface="AC Diary Girl"/>
                <a:sym typeface="AC Diary Girl"/>
              </a:rPr>
              <a:t>Q&amp;A Session</a:t>
            </a:r>
          </a:p>
        </p:txBody>
      </p:sp>
      <p:sp>
        <p:nvSpPr>
          <p:cNvPr id="4" name="Freeform 4"/>
          <p:cNvSpPr/>
          <p:nvPr/>
        </p:nvSpPr>
        <p:spPr>
          <a:xfrm rot="-465442">
            <a:off x="15105791" y="2458225"/>
            <a:ext cx="2013817" cy="2206373"/>
          </a:xfrm>
          <a:custGeom>
            <a:avLst/>
            <a:gdLst/>
            <a:ahLst/>
            <a:cxnLst/>
            <a:rect l="l" t="t" r="r" b="b"/>
            <a:pathLst>
              <a:path w="2013817" h="2206373">
                <a:moveTo>
                  <a:pt x="0" y="0"/>
                </a:moveTo>
                <a:lnTo>
                  <a:pt x="2013817" y="0"/>
                </a:lnTo>
                <a:lnTo>
                  <a:pt x="2013817" y="2206373"/>
                </a:lnTo>
                <a:lnTo>
                  <a:pt x="0" y="220637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a:off x="-334072" y="-1475968"/>
            <a:ext cx="3808435" cy="4114800"/>
          </a:xfrm>
          <a:custGeom>
            <a:avLst/>
            <a:gdLst/>
            <a:ahLst/>
            <a:cxnLst/>
            <a:rect l="l" t="t" r="r" b="b"/>
            <a:pathLst>
              <a:path w="3808435" h="4114800">
                <a:moveTo>
                  <a:pt x="0" y="0"/>
                </a:moveTo>
                <a:lnTo>
                  <a:pt x="3808435" y="0"/>
                </a:lnTo>
                <a:lnTo>
                  <a:pt x="3808435" y="4114800"/>
                </a:lnTo>
                <a:lnTo>
                  <a:pt x="0" y="41148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13062311" y="8487580"/>
            <a:ext cx="4196989" cy="770720"/>
          </a:xfrm>
          <a:custGeom>
            <a:avLst/>
            <a:gdLst/>
            <a:ahLst/>
            <a:cxnLst/>
            <a:rect l="l" t="t" r="r" b="b"/>
            <a:pathLst>
              <a:path w="4196989" h="770720">
                <a:moveTo>
                  <a:pt x="0" y="0"/>
                </a:moveTo>
                <a:lnTo>
                  <a:pt x="4196989" y="0"/>
                </a:lnTo>
                <a:lnTo>
                  <a:pt x="4196989" y="770720"/>
                </a:lnTo>
                <a:lnTo>
                  <a:pt x="0" y="77072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7" name="Freeform 7"/>
          <p:cNvSpPr/>
          <p:nvPr/>
        </p:nvSpPr>
        <p:spPr>
          <a:xfrm rot="-537417">
            <a:off x="1699513" y="6606455"/>
            <a:ext cx="3549699" cy="2562238"/>
          </a:xfrm>
          <a:custGeom>
            <a:avLst/>
            <a:gdLst/>
            <a:ahLst/>
            <a:cxnLst/>
            <a:rect l="l" t="t" r="r" b="b"/>
            <a:pathLst>
              <a:path w="3549699" h="2562238">
                <a:moveTo>
                  <a:pt x="0" y="0"/>
                </a:moveTo>
                <a:lnTo>
                  <a:pt x="3549700" y="0"/>
                </a:lnTo>
                <a:lnTo>
                  <a:pt x="3549700" y="2562237"/>
                </a:lnTo>
                <a:lnTo>
                  <a:pt x="0" y="2562237"/>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TextBox 3"/>
          <p:cNvSpPr txBox="1"/>
          <p:nvPr/>
        </p:nvSpPr>
        <p:spPr>
          <a:xfrm>
            <a:off x="6465218" y="3200400"/>
            <a:ext cx="8695587" cy="4038600"/>
          </a:xfrm>
          <a:prstGeom prst="rect">
            <a:avLst/>
          </a:prstGeom>
        </p:spPr>
        <p:txBody>
          <a:bodyPr lIns="0" tIns="0" rIns="0" bIns="0" rtlCol="0" anchor="t">
            <a:spAutoFit/>
          </a:bodyPr>
          <a:lstStyle/>
          <a:p>
            <a:pPr algn="ctr">
              <a:lnSpc>
                <a:spcPts val="15000"/>
              </a:lnSpc>
            </a:pPr>
            <a:r>
              <a:rPr lang="en-US" sz="15000">
                <a:solidFill>
                  <a:srgbClr val="337271"/>
                </a:solidFill>
                <a:latin typeface="AC Diary Girl"/>
                <a:ea typeface="AC Diary Girl"/>
                <a:cs typeface="AC Diary Girl"/>
                <a:sym typeface="AC Diary Girl"/>
              </a:rPr>
              <a:t>Thank You</a:t>
            </a:r>
          </a:p>
        </p:txBody>
      </p:sp>
      <p:sp>
        <p:nvSpPr>
          <p:cNvPr id="4" name="Freeform 4"/>
          <p:cNvSpPr/>
          <p:nvPr/>
        </p:nvSpPr>
        <p:spPr>
          <a:xfrm>
            <a:off x="-334072" y="-1475968"/>
            <a:ext cx="3808435" cy="4114800"/>
          </a:xfrm>
          <a:custGeom>
            <a:avLst/>
            <a:gdLst/>
            <a:ahLst/>
            <a:cxnLst/>
            <a:rect l="l" t="t" r="r" b="b"/>
            <a:pathLst>
              <a:path w="3808435" h="4114800">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a:off x="13062311" y="8487580"/>
            <a:ext cx="4196989" cy="770720"/>
          </a:xfrm>
          <a:custGeom>
            <a:avLst/>
            <a:gdLst/>
            <a:ahLst/>
            <a:cxnLst/>
            <a:rect l="l" t="t" r="r" b="b"/>
            <a:pathLst>
              <a:path w="4196989" h="770720">
                <a:moveTo>
                  <a:pt x="0" y="0"/>
                </a:moveTo>
                <a:lnTo>
                  <a:pt x="4196989" y="0"/>
                </a:lnTo>
                <a:lnTo>
                  <a:pt x="4196989" y="770720"/>
                </a:lnTo>
                <a:lnTo>
                  <a:pt x="0" y="77072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rot="-118246">
            <a:off x="3423654" y="3579497"/>
            <a:ext cx="4333509" cy="3128006"/>
          </a:xfrm>
          <a:custGeom>
            <a:avLst/>
            <a:gdLst/>
            <a:ahLst/>
            <a:cxnLst/>
            <a:rect l="l" t="t" r="r" b="b"/>
            <a:pathLst>
              <a:path w="4333509" h="3128006">
                <a:moveTo>
                  <a:pt x="0" y="0"/>
                </a:moveTo>
                <a:lnTo>
                  <a:pt x="4333509" y="0"/>
                </a:lnTo>
                <a:lnTo>
                  <a:pt x="4333509" y="3128006"/>
                </a:lnTo>
                <a:lnTo>
                  <a:pt x="0" y="3128006"/>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404</Words>
  <Application>Microsoft Office PowerPoint</Application>
  <PresentationFormat>Custom</PresentationFormat>
  <Paragraphs>66</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Nunito</vt:lpstr>
      <vt:lpstr>Arial</vt:lpstr>
      <vt:lpstr>AC Diary Girl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Beige Simple Project Presentation</dc:title>
  <cp:lastModifiedBy>Ayesha</cp:lastModifiedBy>
  <cp:revision>3</cp:revision>
  <dcterms:created xsi:type="dcterms:W3CDTF">2006-08-16T00:00:00Z</dcterms:created>
  <dcterms:modified xsi:type="dcterms:W3CDTF">2025-11-18T02:01:25Z</dcterms:modified>
  <dc:identifier>DAG43f3YquI</dc:identifier>
</cp:coreProperties>
</file>